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Funnel Display"/>
      <p:regular r:id="rId15"/>
      <p:bold r:id="rId16"/>
    </p:embeddedFont>
    <p:embeddedFont>
      <p:font typeface="Nobile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bile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unnelDisplay-regular.fntdata"/><Relationship Id="rId14" Type="http://schemas.openxmlformats.org/officeDocument/2006/relationships/slide" Target="slides/slide10.xml"/><Relationship Id="rId17" Type="http://schemas.openxmlformats.org/officeDocument/2006/relationships/font" Target="fonts/Nobile-regular.fntdata"/><Relationship Id="rId16" Type="http://schemas.openxmlformats.org/officeDocument/2006/relationships/font" Target="fonts/FunnelDisplay-bold.fntdata"/><Relationship Id="rId5" Type="http://schemas.openxmlformats.org/officeDocument/2006/relationships/slide" Target="slides/slide1.xml"/><Relationship Id="rId19" Type="http://schemas.openxmlformats.org/officeDocument/2006/relationships/font" Target="fonts/Nobile-italic.fntdata"/><Relationship Id="rId6" Type="http://schemas.openxmlformats.org/officeDocument/2006/relationships/slide" Target="slides/slide2.xml"/><Relationship Id="rId18" Type="http://schemas.openxmlformats.org/officeDocument/2006/relationships/font" Target="fonts/Nobil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9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10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42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8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44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46.png"/><Relationship Id="rId11" Type="http://schemas.openxmlformats.org/officeDocument/2006/relationships/image" Target="../media/image29.png"/><Relationship Id="rId10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47.png"/><Relationship Id="rId7" Type="http://schemas.openxmlformats.org/officeDocument/2006/relationships/image" Target="../media/image45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465162" y="577081"/>
            <a:ext cx="1642914" cy="234107"/>
          </a:xfrm>
          <a:prstGeom prst="roundRect">
            <a:avLst>
              <a:gd fmla="val 19075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860" y="641003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3"/>
          <p:cNvSpPr/>
          <p:nvPr/>
        </p:nvSpPr>
        <p:spPr>
          <a:xfrm>
            <a:off x="704255" y="616893"/>
            <a:ext cx="1324124" cy="154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HEALTHCARE ANALYTICS</a:t>
            </a:r>
            <a:endParaRPr b="0" i="0" sz="800" u="none" cap="none" strike="noStrike"/>
          </a:p>
        </p:txBody>
      </p:sp>
      <p:sp>
        <p:nvSpPr>
          <p:cNvPr id="49" name="Google Shape;49;p13"/>
          <p:cNvSpPr/>
          <p:nvPr/>
        </p:nvSpPr>
        <p:spPr>
          <a:xfrm>
            <a:off x="465162" y="860971"/>
            <a:ext cx="4627736" cy="18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3600"/>
              <a:buFont typeface="Funnel Display"/>
              <a:buNone/>
            </a:pPr>
            <a:r>
              <a:rPr b="0" i="0" lang="en-US" sz="36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Executive Healthcare Performance &amp; Strategic Insights Dashboard</a:t>
            </a:r>
            <a:endParaRPr b="0" i="0" sz="3600" u="none" cap="none" strike="noStrike"/>
          </a:p>
        </p:txBody>
      </p:sp>
      <p:sp>
        <p:nvSpPr>
          <p:cNvPr id="50" name="Google Shape;50;p13"/>
          <p:cNvSpPr/>
          <p:nvPr/>
        </p:nvSpPr>
        <p:spPr>
          <a:xfrm>
            <a:off x="465150" y="3040100"/>
            <a:ext cx="28500" cy="360900"/>
          </a:xfrm>
          <a:prstGeom prst="rect">
            <a:avLst/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/>
          <p:nvPr/>
        </p:nvSpPr>
        <p:spPr>
          <a:xfrm>
            <a:off x="626650" y="3053650"/>
            <a:ext cx="44664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Operational Efficiency, Patient Trends, Revenue Intelligence &amp; Clinical Outcomes Analysis</a:t>
            </a:r>
            <a:endParaRPr b="0" i="0" sz="1300" u="none" cap="none" strike="noStrike"/>
          </a:p>
        </p:txBody>
      </p:sp>
      <p:sp>
        <p:nvSpPr>
          <p:cNvPr id="52" name="Google Shape;52;p13"/>
          <p:cNvSpPr/>
          <p:nvPr/>
        </p:nvSpPr>
        <p:spPr>
          <a:xfrm>
            <a:off x="465150" y="3539512"/>
            <a:ext cx="46278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Nobile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A comprehensive, data-driven executive briefing synthesizing hospital operations, patient flow, financial performance, and clinical outcomes across the healthcare network.</a:t>
            </a:r>
            <a:endParaRPr b="0" i="0" sz="1000" u="none" cap="none" strike="noStrike"/>
          </a:p>
        </p:txBody>
      </p:sp>
      <p:sp>
        <p:nvSpPr>
          <p:cNvPr id="53" name="Google Shape;53;p13"/>
          <p:cNvSpPr/>
          <p:nvPr/>
        </p:nvSpPr>
        <p:spPr>
          <a:xfrm>
            <a:off x="465162" y="3999086"/>
            <a:ext cx="4627736" cy="193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sp>
        <p:nvSpPr>
          <p:cNvPr id="54" name="Google Shape;54;p13"/>
          <p:cNvSpPr/>
          <p:nvPr/>
        </p:nvSpPr>
        <p:spPr>
          <a:xfrm>
            <a:off x="465162" y="4332312"/>
            <a:ext cx="2479849" cy="234107"/>
          </a:xfrm>
          <a:prstGeom prst="roundRect">
            <a:avLst>
              <a:gd fmla="val 19075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544860" y="4372124"/>
            <a:ext cx="2320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PRESENTER: </a:t>
            </a:r>
            <a:r>
              <a:rPr lang="en-US" sz="800">
                <a:latin typeface="Nobile"/>
                <a:ea typeface="Nobile"/>
                <a:cs typeface="Nobile"/>
                <a:sym typeface="Nobile"/>
              </a:rPr>
              <a:t>MOHD FAIJ</a:t>
            </a:r>
            <a:endParaRPr b="0" i="0" sz="800" u="none" cap="none" strike="noStrike"/>
          </a:p>
        </p:txBody>
      </p:sp>
      <p:sp>
        <p:nvSpPr>
          <p:cNvPr id="56" name="Google Shape;56;p13"/>
          <p:cNvSpPr/>
          <p:nvPr/>
        </p:nvSpPr>
        <p:spPr>
          <a:xfrm>
            <a:off x="3011463" y="4332312"/>
            <a:ext cx="1325463" cy="234107"/>
          </a:xfrm>
          <a:prstGeom prst="roundRect">
            <a:avLst>
              <a:gd fmla="val 19075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091160" y="4372124"/>
            <a:ext cx="1166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lang="en-US" sz="800">
                <a:latin typeface="Nobile"/>
                <a:ea typeface="Nobile"/>
                <a:cs typeface="Nobile"/>
                <a:sym typeface="Nobile"/>
              </a:rPr>
              <a:t>Healthcare Report</a:t>
            </a:r>
            <a:endParaRPr b="0" i="0" sz="8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5421809" y="577081"/>
            <a:ext cx="1568574" cy="1504652"/>
          </a:xfrm>
          <a:prstGeom prst="roundRect">
            <a:avLst>
              <a:gd fmla="val 3710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554712" y="709985"/>
            <a:ext cx="1302767" cy="341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📊</a:t>
            </a:r>
            <a:r>
              <a:rPr b="0" i="0" lang="en-US" sz="130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3 Dashboard Modules</a:t>
            </a:r>
            <a:endParaRPr b="0" i="0" sz="13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5554712" y="1176412"/>
            <a:ext cx="1302767" cy="77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bile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Executive Overview · Hospital Operations · Strategic Intelligence</a:t>
            </a:r>
            <a:endParaRPr b="0" i="0" sz="100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7114952" y="577081"/>
            <a:ext cx="1568574" cy="1504652"/>
          </a:xfrm>
          <a:prstGeom prst="roundRect">
            <a:avLst>
              <a:gd fmla="val 3710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7247855" y="709985"/>
            <a:ext cx="1302767" cy="341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🏥 Network Scale</a:t>
            </a:r>
            <a:endParaRPr b="0" i="0" sz="130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7247855" y="1176412"/>
            <a:ext cx="1302767" cy="57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bile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39.9K Hospitals · 40.3K Doctors · 55.5K Patients</a:t>
            </a:r>
            <a:endParaRPr b="0" i="0" sz="100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5421809" y="2206303"/>
            <a:ext cx="3261717" cy="759172"/>
          </a:xfrm>
          <a:prstGeom prst="roundRect">
            <a:avLst>
              <a:gd fmla="val 7353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5554712" y="2339206"/>
            <a:ext cx="1661294" cy="1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💰 Total Revenue</a:t>
            </a:r>
            <a:endParaRPr b="0" i="0" sz="1300" u="none" cap="none" strike="noStrike"/>
          </a:p>
        </p:txBody>
      </p:sp>
      <p:sp>
        <p:nvSpPr>
          <p:cNvPr id="66" name="Google Shape;66;p13"/>
          <p:cNvSpPr/>
          <p:nvPr/>
        </p:nvSpPr>
        <p:spPr>
          <a:xfrm>
            <a:off x="5554712" y="2639467"/>
            <a:ext cx="2995910" cy="193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bile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$1,417.4M across all healthcare facilities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387623" y="335607"/>
            <a:ext cx="1126554" cy="184770"/>
          </a:xfrm>
          <a:prstGeom prst="roundRect">
            <a:avLst>
              <a:gd fmla="val 20141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75" y="383679"/>
            <a:ext cx="88553" cy="8855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586904" y="368796"/>
            <a:ext cx="860822" cy="11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Nobile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PROJECT OVERVIEW</a:t>
            </a:r>
            <a:endParaRPr b="0" i="0" sz="6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387623" y="554980"/>
            <a:ext cx="5198269" cy="276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150"/>
              <a:buFont typeface="Funnel Display"/>
              <a:buNone/>
            </a:pPr>
            <a:r>
              <a:rPr b="0" i="0" lang="en-US" sz="21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Project Overview &amp; Business Objectives</a:t>
            </a:r>
            <a:endParaRPr b="0" i="0" sz="2150" u="none" cap="none" strike="noStrike"/>
          </a:p>
        </p:txBody>
      </p:sp>
      <p:pic>
        <p:nvPicPr>
          <p:cNvPr descr="preencoded.png" id="76" name="Google Shape;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9456" y="1058987"/>
            <a:ext cx="1193676" cy="26647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2118345" y="1148953"/>
            <a:ext cx="155749" cy="155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200" u="none" cap="none" strike="noStrike"/>
          </a:p>
        </p:txBody>
      </p:sp>
      <p:pic>
        <p:nvPicPr>
          <p:cNvPr descr="preencoded.png" id="78" name="Google Shape;7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581" y="1353145"/>
            <a:ext cx="2387426" cy="26647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2118420" y="1408509"/>
            <a:ext cx="155749" cy="155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200" u="none" cap="none" strike="noStrike"/>
          </a:p>
        </p:txBody>
      </p:sp>
      <p:pic>
        <p:nvPicPr>
          <p:cNvPr descr="preencoded.png" id="80" name="Google Shape;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705" y="1647304"/>
            <a:ext cx="3581102" cy="26647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2118345" y="1702668"/>
            <a:ext cx="155749" cy="155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2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387623" y="2024509"/>
            <a:ext cx="221456" cy="221456"/>
          </a:xfrm>
          <a:prstGeom prst="roundRect">
            <a:avLst>
              <a:gd fmla="val 21005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429146" y="2066032"/>
            <a:ext cx="138410" cy="13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05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695548" y="2052191"/>
            <a:ext cx="2453506" cy="1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Executive Healthcare Overview</a:t>
            </a:r>
            <a:endParaRPr b="0" i="0" sz="130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695548" y="2304827"/>
            <a:ext cx="3309417" cy="44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Top-level KPI monitoring across all hospitals — revenue, patient volumes, doctor capacity, and emergency admission rates in a single executive view.</a:t>
            </a:r>
            <a:endParaRPr b="0" i="0" sz="85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387623" y="2914501"/>
            <a:ext cx="221456" cy="221456"/>
          </a:xfrm>
          <a:prstGeom prst="roundRect">
            <a:avLst>
              <a:gd fmla="val 21005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429146" y="2956024"/>
            <a:ext cx="138410" cy="13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05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695548" y="2942183"/>
            <a:ext cx="2745135" cy="1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Hospital Operations &amp; Patient Flow</a:t>
            </a:r>
            <a:endParaRPr b="0" i="0" sz="130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695548" y="3194819"/>
            <a:ext cx="3309417" cy="44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Deep-dive analysis of admission types, monthly trends, demographic segmentation, and disease burden to optimize resource allocation and care delivery.</a:t>
            </a:r>
            <a:endParaRPr b="0" i="0" sz="85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387623" y="3804493"/>
            <a:ext cx="221456" cy="221456"/>
          </a:xfrm>
          <a:prstGeom prst="roundRect">
            <a:avLst>
              <a:gd fmla="val 21005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429146" y="3846016"/>
            <a:ext cx="138410" cy="13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050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695548" y="3832175"/>
            <a:ext cx="3309417" cy="33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Healthcare Intelligence &amp; Strategic Insights</a:t>
            </a:r>
            <a:endParaRPr b="0" i="0" sz="130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695548" y="4250978"/>
            <a:ext cx="3309417" cy="44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Financial performance by insurance provider, clinical outcome analysis, and predictive insights to drive long-term strategic planning and decision-making.</a:t>
            </a:r>
            <a:endParaRPr b="0" i="0" sz="850" u="none" cap="none" strike="noStrike"/>
          </a:p>
        </p:txBody>
      </p:sp>
      <p:sp>
        <p:nvSpPr>
          <p:cNvPr id="94" name="Google Shape;94;p14"/>
          <p:cNvSpPr/>
          <p:nvPr/>
        </p:nvSpPr>
        <p:spPr>
          <a:xfrm>
            <a:off x="4279850" y="1048122"/>
            <a:ext cx="1384399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Core Business Goals</a:t>
            </a:r>
            <a:endParaRPr b="0" i="0" sz="1050" u="none" cap="none" strike="noStrike"/>
          </a:p>
        </p:txBody>
      </p:sp>
      <p:pic>
        <p:nvPicPr>
          <p:cNvPr descr="preencoded.png" id="95" name="Google Shape;9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21373" y="1270025"/>
            <a:ext cx="166092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4639717" y="1283866"/>
            <a:ext cx="2032099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Improve Operational Efficiency</a:t>
            </a:r>
            <a:endParaRPr b="0" i="0" sz="105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4639717" y="1508745"/>
            <a:ext cx="4121348" cy="29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Identify bottlenecks in patient flow and resource utilization across the hospital network.</a:t>
            </a:r>
            <a:endParaRPr b="0" i="0" sz="850" u="none" cap="none" strike="noStrike"/>
          </a:p>
        </p:txBody>
      </p:sp>
      <p:pic>
        <p:nvPicPr>
          <p:cNvPr descr="preencoded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1373" y="1963638"/>
            <a:ext cx="166092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4639717" y="1977479"/>
            <a:ext cx="2963391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Analyze Patient Admissions &amp; Track Revenue</a:t>
            </a:r>
            <a:endParaRPr b="0" i="0" sz="105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4639717" y="2202359"/>
            <a:ext cx="4121348" cy="29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Understand admission patterns and correlate them with revenue generation and billing performance.</a:t>
            </a:r>
            <a:endParaRPr b="0" i="0" sz="850" u="none" cap="none" strike="noStrike"/>
          </a:p>
        </p:txBody>
      </p:sp>
      <p:pic>
        <p:nvPicPr>
          <p:cNvPr descr="preencoded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21373" y="2657252"/>
            <a:ext cx="166092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4639717" y="2671093"/>
            <a:ext cx="3270498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Identify Clinical Risks &amp; Optimize Emergency Care</a:t>
            </a:r>
            <a:endParaRPr b="0" i="0" sz="10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4639717" y="2895972"/>
            <a:ext cx="4121348" cy="29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Surface high-risk clinical patterns and reduce emergency admission pressure through proactive planning.</a:t>
            </a:r>
            <a:endParaRPr b="0" i="0" sz="85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4279850" y="3289027"/>
            <a:ext cx="1384399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Analytics Workflow</a:t>
            </a:r>
            <a:endParaRPr b="0" i="0" sz="1050" u="none" cap="none" strike="noStrike"/>
          </a:p>
        </p:txBody>
      </p:sp>
      <p:pic>
        <p:nvPicPr>
          <p:cNvPr descr="preencoded.png" id="105" name="Google Shape;10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9850" y="3524771"/>
            <a:ext cx="4481215" cy="118571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4625585" y="3925684"/>
            <a:ext cx="677353" cy="29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Raw Healthcare Data</a:t>
            </a:r>
            <a:endParaRPr b="0" i="0" sz="750" u="none" cap="none" strike="noStrike"/>
          </a:p>
        </p:txBody>
      </p:sp>
      <p:sp>
        <p:nvSpPr>
          <p:cNvPr id="107" name="Google Shape;107;p14"/>
          <p:cNvSpPr/>
          <p:nvPr/>
        </p:nvSpPr>
        <p:spPr>
          <a:xfrm>
            <a:off x="4625585" y="4251256"/>
            <a:ext cx="677353" cy="25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600"/>
              <a:buFont typeface="Nobile"/>
              <a:buNone/>
            </a:pPr>
            <a:r>
              <a:rPr b="0" i="0" lang="en-US" sz="6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Patient records, claims, device feeds</a:t>
            </a:r>
            <a:endParaRPr b="0" i="0" sz="60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5401782" y="4005190"/>
            <a:ext cx="677353" cy="9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KPI Analysis</a:t>
            </a:r>
            <a:endParaRPr b="0" i="0" sz="750" u="none" cap="none" strike="noStrike"/>
          </a:p>
        </p:txBody>
      </p:sp>
      <p:sp>
        <p:nvSpPr>
          <p:cNvPr id="109" name="Google Shape;109;p14"/>
          <p:cNvSpPr/>
          <p:nvPr/>
        </p:nvSpPr>
        <p:spPr>
          <a:xfrm>
            <a:off x="5401782" y="4136713"/>
            <a:ext cx="677353" cy="17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600"/>
              <a:buFont typeface="Nobile"/>
              <a:buNone/>
            </a:pPr>
            <a:r>
              <a:rPr b="0" i="0" lang="en-US" sz="6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Compute revenue, volumes, capacity</a:t>
            </a:r>
            <a:endParaRPr b="0" i="0" sz="600" u="none" cap="none" strike="noStrike"/>
          </a:p>
        </p:txBody>
      </p:sp>
      <p:sp>
        <p:nvSpPr>
          <p:cNvPr id="110" name="Google Shape;110;p14"/>
          <p:cNvSpPr/>
          <p:nvPr/>
        </p:nvSpPr>
        <p:spPr>
          <a:xfrm>
            <a:off x="6177980" y="3925684"/>
            <a:ext cx="677354" cy="1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Dashboard Creation</a:t>
            </a:r>
            <a:endParaRPr b="0" i="0" sz="750" u="none" cap="none" strike="noStrike"/>
          </a:p>
        </p:txBody>
      </p:sp>
      <p:sp>
        <p:nvSpPr>
          <p:cNvPr id="111" name="Google Shape;111;p14"/>
          <p:cNvSpPr/>
          <p:nvPr/>
        </p:nvSpPr>
        <p:spPr>
          <a:xfrm>
            <a:off x="6177980" y="4154231"/>
            <a:ext cx="677354" cy="17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600"/>
              <a:buFont typeface="Nobile"/>
              <a:buNone/>
            </a:pPr>
            <a:r>
              <a:rPr b="0" i="0" lang="en-US" sz="6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Executive view for hospitals</a:t>
            </a:r>
            <a:endParaRPr b="0" i="0" sz="600" u="none" cap="none" strike="noStrike"/>
          </a:p>
        </p:txBody>
      </p:sp>
      <p:sp>
        <p:nvSpPr>
          <p:cNvPr id="112" name="Google Shape;112;p14"/>
          <p:cNvSpPr/>
          <p:nvPr/>
        </p:nvSpPr>
        <p:spPr>
          <a:xfrm>
            <a:off x="6954178" y="3821786"/>
            <a:ext cx="677353" cy="1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Strategic Insights</a:t>
            </a:r>
            <a:endParaRPr b="0" i="0" sz="750" u="none" cap="none" strike="noStrike"/>
          </a:p>
        </p:txBody>
      </p:sp>
      <p:sp>
        <p:nvSpPr>
          <p:cNvPr id="113" name="Google Shape;113;p14"/>
          <p:cNvSpPr/>
          <p:nvPr/>
        </p:nvSpPr>
        <p:spPr>
          <a:xfrm>
            <a:off x="6954178" y="4050334"/>
            <a:ext cx="677353" cy="25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600"/>
              <a:buFont typeface="Nobile"/>
              <a:buNone/>
            </a:pPr>
            <a:r>
              <a:rPr b="0" i="0" lang="en-US" sz="6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Identify trends and improvement areas</a:t>
            </a:r>
            <a:endParaRPr b="0" i="0" sz="600" u="none" cap="none" strike="noStrike"/>
          </a:p>
        </p:txBody>
      </p:sp>
      <p:sp>
        <p:nvSpPr>
          <p:cNvPr id="114" name="Google Shape;114;p14"/>
          <p:cNvSpPr/>
          <p:nvPr/>
        </p:nvSpPr>
        <p:spPr>
          <a:xfrm>
            <a:off x="7734687" y="3925684"/>
            <a:ext cx="677354" cy="1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750"/>
              <a:buFont typeface="Funnel Display"/>
              <a:buNone/>
            </a:pPr>
            <a:r>
              <a:rPr b="0" i="0" lang="en-US" sz="7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Decision Making</a:t>
            </a:r>
            <a:endParaRPr b="0" i="0" sz="750" u="none" cap="none" strike="noStrike"/>
          </a:p>
        </p:txBody>
      </p:sp>
      <p:sp>
        <p:nvSpPr>
          <p:cNvPr id="115" name="Google Shape;115;p14"/>
          <p:cNvSpPr/>
          <p:nvPr/>
        </p:nvSpPr>
        <p:spPr>
          <a:xfrm>
            <a:off x="7734687" y="4154231"/>
            <a:ext cx="677354" cy="17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600"/>
              <a:buFont typeface="Nobile"/>
              <a:buNone/>
            </a:pPr>
            <a:r>
              <a:rPr b="0" i="0" lang="en-US" sz="6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Allocate resources and set priorities</a:t>
            </a:r>
            <a:endParaRPr b="0" i="0" sz="6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372070" y="328836"/>
            <a:ext cx="869603" cy="175320"/>
          </a:xfrm>
          <a:prstGeom prst="roundRect">
            <a:avLst>
              <a:gd fmla="val 20377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43" y="373931"/>
            <a:ext cx="85055" cy="8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/>
          <p:nvPr/>
        </p:nvSpPr>
        <p:spPr>
          <a:xfrm>
            <a:off x="563389" y="360685"/>
            <a:ext cx="614511" cy="11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Nobile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KPI SUMMARY</a:t>
            </a:r>
            <a:endParaRPr b="0" i="0" sz="65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372070" y="536004"/>
            <a:ext cx="3467621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050"/>
              <a:buFont typeface="Funnel Display"/>
              <a:buNone/>
            </a:pPr>
            <a:r>
              <a:rPr b="0" i="0" lang="en-US" sz="2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KPI Performance Summary</a:t>
            </a:r>
            <a:endParaRPr b="0" i="0" sz="205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372070" y="974527"/>
            <a:ext cx="4150072" cy="3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2750"/>
              <a:buFont typeface="Funnel Display"/>
              <a:buNone/>
            </a:pPr>
            <a:r>
              <a:rPr b="0" i="0" lang="en-US" sz="27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$1.4B</a:t>
            </a:r>
            <a:endParaRPr b="0" i="0" sz="2750" u="none" cap="none" strike="noStrike"/>
          </a:p>
        </p:txBody>
      </p:sp>
      <p:sp>
        <p:nvSpPr>
          <p:cNvPr id="126" name="Google Shape;126;p15"/>
          <p:cNvSpPr/>
          <p:nvPr/>
        </p:nvSpPr>
        <p:spPr>
          <a:xfrm>
            <a:off x="1782589" y="1438275"/>
            <a:ext cx="1329035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Total Revenue</a:t>
            </a:r>
            <a:endParaRPr b="0" i="0" sz="100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372070" y="1618952"/>
            <a:ext cx="4150072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$1,417.4M generated across all facilities and patient segments</a:t>
            </a:r>
            <a:endParaRPr b="0" i="0" sz="80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4621783" y="974527"/>
            <a:ext cx="4150147" cy="3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2750"/>
              <a:buFont typeface="Funnel Display"/>
              <a:buNone/>
            </a:pPr>
            <a:r>
              <a:rPr b="0" i="0" lang="en-US" sz="27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39.9K</a:t>
            </a:r>
            <a:endParaRPr b="0" i="0" sz="2750" u="none" cap="none" strike="noStrike"/>
          </a:p>
        </p:txBody>
      </p:sp>
      <p:sp>
        <p:nvSpPr>
          <p:cNvPr id="129" name="Google Shape;129;p15"/>
          <p:cNvSpPr/>
          <p:nvPr/>
        </p:nvSpPr>
        <p:spPr>
          <a:xfrm>
            <a:off x="6032302" y="1438275"/>
            <a:ext cx="1329035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Total Hospitals</a:t>
            </a:r>
            <a:endParaRPr b="0" i="0" sz="100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4621783" y="1618952"/>
            <a:ext cx="4150147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Network-wide hospital count supporting national healthcare delivery</a:t>
            </a:r>
            <a:endParaRPr b="0" i="0" sz="80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372070" y="1971080"/>
            <a:ext cx="4150072" cy="3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2750"/>
              <a:buFont typeface="Funnel Display"/>
              <a:buNone/>
            </a:pPr>
            <a:r>
              <a:rPr b="0" i="0" lang="en-US" sz="27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40.3K</a:t>
            </a:r>
            <a:endParaRPr b="0" i="0" sz="2750" u="none" cap="none" strike="noStrike"/>
          </a:p>
        </p:txBody>
      </p:sp>
      <p:sp>
        <p:nvSpPr>
          <p:cNvPr id="132" name="Google Shape;132;p15"/>
          <p:cNvSpPr/>
          <p:nvPr/>
        </p:nvSpPr>
        <p:spPr>
          <a:xfrm>
            <a:off x="1782589" y="2434828"/>
            <a:ext cx="1329035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Total Doctors</a:t>
            </a:r>
            <a:endParaRPr b="0" i="0" sz="100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372070" y="2615505"/>
            <a:ext cx="4150072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Active physicians across all specialties and departments</a:t>
            </a:r>
            <a:endParaRPr b="0" i="0" sz="800" u="none" cap="none" strike="noStrike"/>
          </a:p>
        </p:txBody>
      </p:sp>
      <p:sp>
        <p:nvSpPr>
          <p:cNvPr id="134" name="Google Shape;134;p15"/>
          <p:cNvSpPr/>
          <p:nvPr/>
        </p:nvSpPr>
        <p:spPr>
          <a:xfrm>
            <a:off x="4621783" y="1971080"/>
            <a:ext cx="4150147" cy="3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2750"/>
              <a:buFont typeface="Funnel Display"/>
              <a:buNone/>
            </a:pPr>
            <a:r>
              <a:rPr b="0" i="0" lang="en-US" sz="27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55.5K</a:t>
            </a:r>
            <a:endParaRPr b="0" i="0" sz="2750" u="none" cap="none" strike="noStrike"/>
          </a:p>
        </p:txBody>
      </p:sp>
      <p:sp>
        <p:nvSpPr>
          <p:cNvPr id="135" name="Google Shape;135;p15"/>
          <p:cNvSpPr/>
          <p:nvPr/>
        </p:nvSpPr>
        <p:spPr>
          <a:xfrm>
            <a:off x="6032302" y="2434828"/>
            <a:ext cx="1329035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Total Patients</a:t>
            </a:r>
            <a:endParaRPr b="0" i="0" sz="1000" u="none" cap="none" strike="noStrike"/>
          </a:p>
        </p:txBody>
      </p:sp>
      <p:sp>
        <p:nvSpPr>
          <p:cNvPr id="136" name="Google Shape;136;p15"/>
          <p:cNvSpPr/>
          <p:nvPr/>
        </p:nvSpPr>
        <p:spPr>
          <a:xfrm>
            <a:off x="4621783" y="2615505"/>
            <a:ext cx="4150147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Cumulative patient admissions driving high utilization rates</a:t>
            </a:r>
            <a:endParaRPr b="0" i="0" sz="800" u="none" cap="none" strike="noStrike"/>
          </a:p>
        </p:txBody>
      </p:sp>
      <p:sp>
        <p:nvSpPr>
          <p:cNvPr id="137" name="Google Shape;137;p15"/>
          <p:cNvSpPr/>
          <p:nvPr/>
        </p:nvSpPr>
        <p:spPr>
          <a:xfrm>
            <a:off x="372070" y="2967633"/>
            <a:ext cx="4150072" cy="3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2750"/>
              <a:buFont typeface="Funnel Display"/>
              <a:buNone/>
            </a:pPr>
            <a:r>
              <a:rPr b="0" i="0" lang="en-US" sz="27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32.9%</a:t>
            </a:r>
            <a:endParaRPr b="0" i="0" sz="2750" u="none" cap="none" strike="noStrike"/>
          </a:p>
        </p:txBody>
      </p:sp>
      <p:sp>
        <p:nvSpPr>
          <p:cNvPr id="138" name="Google Shape;138;p15"/>
          <p:cNvSpPr/>
          <p:nvPr/>
        </p:nvSpPr>
        <p:spPr>
          <a:xfrm>
            <a:off x="1701701" y="3431381"/>
            <a:ext cx="1490811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Emergency Admissions</a:t>
            </a:r>
            <a:endParaRPr b="0" i="0" sz="1000" u="none" cap="none" strike="noStrike"/>
          </a:p>
        </p:txBody>
      </p:sp>
      <p:sp>
        <p:nvSpPr>
          <p:cNvPr id="139" name="Google Shape;139;p15"/>
          <p:cNvSpPr/>
          <p:nvPr/>
        </p:nvSpPr>
        <p:spPr>
          <a:xfrm>
            <a:off x="372070" y="3612059"/>
            <a:ext cx="4150072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Share of total admissions classified as emergency cases</a:t>
            </a:r>
            <a:endParaRPr b="0" i="0" sz="800" u="none" cap="none" strike="noStrike"/>
          </a:p>
        </p:txBody>
      </p:sp>
      <p:sp>
        <p:nvSpPr>
          <p:cNvPr id="140" name="Google Shape;140;p15"/>
          <p:cNvSpPr/>
          <p:nvPr/>
        </p:nvSpPr>
        <p:spPr>
          <a:xfrm>
            <a:off x="4621783" y="2967633"/>
            <a:ext cx="4150147" cy="3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2750"/>
              <a:buFont typeface="Funnel Display"/>
              <a:buNone/>
            </a:pPr>
            <a:r>
              <a:rPr b="0" i="0" lang="en-US" sz="27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$25.5K</a:t>
            </a:r>
            <a:endParaRPr b="0" i="0" sz="2750" u="none" cap="none" strike="noStrike"/>
          </a:p>
        </p:txBody>
      </p:sp>
      <p:sp>
        <p:nvSpPr>
          <p:cNvPr id="141" name="Google Shape;141;p15"/>
          <p:cNvSpPr/>
          <p:nvPr/>
        </p:nvSpPr>
        <p:spPr>
          <a:xfrm>
            <a:off x="6032302" y="3431381"/>
            <a:ext cx="1329035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Avg. Billing Amount</a:t>
            </a:r>
            <a:endParaRPr b="0" i="0" sz="1000" u="none" cap="none" strike="noStrike"/>
          </a:p>
        </p:txBody>
      </p:sp>
      <p:sp>
        <p:nvSpPr>
          <p:cNvPr id="142" name="Google Shape;142;p15"/>
          <p:cNvSpPr/>
          <p:nvPr/>
        </p:nvSpPr>
        <p:spPr>
          <a:xfrm>
            <a:off x="4621783" y="3612059"/>
            <a:ext cx="4150147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Average billed per patient, consistently high across hospitals</a:t>
            </a:r>
            <a:endParaRPr b="0" i="0" sz="800" u="none" cap="none" strike="noStrike"/>
          </a:p>
        </p:txBody>
      </p:sp>
      <p:sp>
        <p:nvSpPr>
          <p:cNvPr id="143" name="Google Shape;143;p15"/>
          <p:cNvSpPr/>
          <p:nvPr/>
        </p:nvSpPr>
        <p:spPr>
          <a:xfrm>
            <a:off x="372070" y="3930923"/>
            <a:ext cx="2598093" cy="793998"/>
          </a:xfrm>
          <a:prstGeom prst="roundRect">
            <a:avLst>
              <a:gd fmla="val 5624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334" y="4070747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717500" y="4037186"/>
            <a:ext cx="2146399" cy="562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📈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Revenue Growth: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High patient volume of 55.5K generated strong overall revenue growth of $1.4B across the network.</a:t>
            </a:r>
            <a:endParaRPr b="0" i="0" sz="800" u="none" cap="none" strike="noStrike"/>
          </a:p>
        </p:txBody>
      </p:sp>
      <p:sp>
        <p:nvSpPr>
          <p:cNvPr id="146" name="Google Shape;146;p15"/>
          <p:cNvSpPr/>
          <p:nvPr/>
        </p:nvSpPr>
        <p:spPr>
          <a:xfrm>
            <a:off x="3234333" y="3930923"/>
            <a:ext cx="2598093" cy="654472"/>
          </a:xfrm>
          <a:prstGeom prst="roundRect">
            <a:avLst>
              <a:gd fmla="val 682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0596" y="4070747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/>
          <p:nvPr/>
        </p:nvSpPr>
        <p:spPr>
          <a:xfrm>
            <a:off x="3579763" y="4037186"/>
            <a:ext cx="2146399" cy="4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🚨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Operational Pressure: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Emergency admissions at 32.9% created significant strain on hospital resources and staffing.</a:t>
            </a:r>
            <a:endParaRPr b="0" i="0" sz="800" u="none" cap="none" strike="noStrike"/>
          </a:p>
        </p:txBody>
      </p:sp>
      <p:sp>
        <p:nvSpPr>
          <p:cNvPr id="149" name="Google Shape;149;p15"/>
          <p:cNvSpPr/>
          <p:nvPr/>
        </p:nvSpPr>
        <p:spPr>
          <a:xfrm>
            <a:off x="6096595" y="3930923"/>
            <a:ext cx="2684711" cy="654472"/>
          </a:xfrm>
          <a:prstGeom prst="roundRect">
            <a:avLst>
              <a:gd fmla="val 6823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2859" y="4070747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6442025" y="4037186"/>
            <a:ext cx="2233017" cy="4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💳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Billing Stability: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Average billing of $25.5K remained consistently high across all hospital types and patient categories.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10840" y="331887"/>
            <a:ext cx="1112639" cy="199132"/>
          </a:xfrm>
          <a:prstGeom prst="roundRect">
            <a:avLst>
              <a:gd fmla="val 19809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36" y="384497"/>
            <a:ext cx="93911" cy="9391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622102" y="367085"/>
            <a:ext cx="830982" cy="128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bile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REVENUE TRENDS</a:t>
            </a:r>
            <a:endParaRPr b="0" i="0" sz="700" u="none" cap="none" strike="noStrike"/>
          </a:p>
        </p:txBody>
      </p:sp>
      <p:sp>
        <p:nvSpPr>
          <p:cNvPr id="160" name="Google Shape;160;p16"/>
          <p:cNvSpPr/>
          <p:nvPr/>
        </p:nvSpPr>
        <p:spPr>
          <a:xfrm>
            <a:off x="410840" y="569863"/>
            <a:ext cx="5912793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300"/>
              <a:buFont typeface="Funnel Display"/>
              <a:buNone/>
            </a:pPr>
            <a:r>
              <a:rPr b="0" i="0" lang="en-US" sz="23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Monthly Revenue &amp; Patient Trend Analysis</a:t>
            </a:r>
            <a:endParaRPr b="0" i="0" sz="230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410840" y="1118443"/>
            <a:ext cx="474687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178" y="1141288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520378" y="1132731"/>
            <a:ext cx="331812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Revenue (M)</a:t>
            </a:r>
            <a:endParaRPr b="0" i="0" sz="45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923627" y="1118443"/>
            <a:ext cx="509960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965" y="1141288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/>
          <p:nvPr/>
        </p:nvSpPr>
        <p:spPr>
          <a:xfrm>
            <a:off x="1033165" y="1132731"/>
            <a:ext cx="367085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Patient Count</a:t>
            </a:r>
            <a:endParaRPr b="0" i="0" sz="450" u="none" cap="none" strike="noStrike"/>
          </a:p>
        </p:txBody>
      </p:sp>
      <p:pic>
        <p:nvPicPr>
          <p:cNvPr descr="preencoded.png" id="167" name="Google Shape;16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0840" y="1268909"/>
            <a:ext cx="5051003" cy="22231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/>
          <p:nvPr/>
        </p:nvSpPr>
        <p:spPr>
          <a:xfrm>
            <a:off x="410840" y="4056311"/>
            <a:ext cx="5051003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Dual-axis trend analysis showing patient volume (count) vs. revenue ($M) January–December. Peak utilization observed in </a:t>
            </a:r>
            <a:r>
              <a:rPr b="1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July, August, and October</a:t>
            </a: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driven by seasonal healthcare demand surges.</a:t>
            </a:r>
            <a:endParaRPr b="0" i="0" sz="900" u="none" cap="none" strike="noStrike"/>
          </a:p>
        </p:txBody>
      </p:sp>
      <p:sp>
        <p:nvSpPr>
          <p:cNvPr id="169" name="Google Shape;169;p16"/>
          <p:cNvSpPr/>
          <p:nvPr/>
        </p:nvSpPr>
        <p:spPr>
          <a:xfrm>
            <a:off x="5752951" y="1106314"/>
            <a:ext cx="1467445" cy="1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Executive Insights</a:t>
            </a:r>
            <a:endParaRPr b="0" i="0" sz="1150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5752951" y="1362373"/>
            <a:ext cx="2984897" cy="1155799"/>
          </a:xfrm>
          <a:prstGeom prst="roundRect">
            <a:avLst>
              <a:gd fmla="val 5934" name="adj"/>
            </a:avLst>
          </a:prstGeom>
          <a:solidFill>
            <a:srgbClr val="FAFAFA"/>
          </a:solidFill>
          <a:ln cap="flat" cmpd="sng" w="14275">
            <a:solidFill>
              <a:srgbClr val="279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738664" y="1362373"/>
            <a:ext cx="57150" cy="1155799"/>
          </a:xfrm>
          <a:prstGeom prst="roundRect">
            <a:avLst>
              <a:gd fmla="val 86279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5927452" y="1494011"/>
            <a:ext cx="2533501" cy="151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📊</a:t>
            </a:r>
            <a:r>
              <a:rPr b="0" i="0" lang="en-US" sz="11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Revenue–Admissions Correlation</a:t>
            </a:r>
            <a:endParaRPr b="0" i="0" sz="1150" u="none" cap="none" strike="noStrike"/>
          </a:p>
        </p:txBody>
      </p:sp>
      <p:sp>
        <p:nvSpPr>
          <p:cNvPr id="173" name="Google Shape;173;p16"/>
          <p:cNvSpPr/>
          <p:nvPr/>
        </p:nvSpPr>
        <p:spPr>
          <a:xfrm>
            <a:off x="5927452" y="1742703"/>
            <a:ext cx="2678757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Revenue strongly correlates with patient admissions — months with higher patient volumes consistently produced proportional revenue increases.</a:t>
            </a:r>
            <a:endParaRPr b="0" i="0" sz="900" u="none" cap="none" strike="noStrike"/>
          </a:p>
        </p:txBody>
      </p:sp>
      <p:sp>
        <p:nvSpPr>
          <p:cNvPr id="174" name="Google Shape;174;p16"/>
          <p:cNvSpPr/>
          <p:nvPr/>
        </p:nvSpPr>
        <p:spPr>
          <a:xfrm>
            <a:off x="5752951" y="2615357"/>
            <a:ext cx="2984897" cy="994842"/>
          </a:xfrm>
          <a:prstGeom prst="roundRect">
            <a:avLst>
              <a:gd fmla="val 6894" name="adj"/>
            </a:avLst>
          </a:prstGeom>
          <a:solidFill>
            <a:srgbClr val="FAFAFA"/>
          </a:solidFill>
          <a:ln cap="flat" cmpd="sng" w="14275">
            <a:solidFill>
              <a:srgbClr val="FDD3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5738664" y="2615357"/>
            <a:ext cx="57150" cy="994842"/>
          </a:xfrm>
          <a:prstGeom prst="roundRect">
            <a:avLst>
              <a:gd fmla="val 86279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927452" y="2746995"/>
            <a:ext cx="1985665" cy="151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🌡️</a:t>
            </a:r>
            <a:r>
              <a:rPr b="0" i="0" lang="en-US" sz="11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Seasonal Demand Spikes</a:t>
            </a:r>
            <a:endParaRPr b="0" i="0" sz="1150" u="none" cap="none" strike="noStrike"/>
          </a:p>
        </p:txBody>
      </p:sp>
      <p:sp>
        <p:nvSpPr>
          <p:cNvPr id="177" name="Google Shape;177;p16"/>
          <p:cNvSpPr/>
          <p:nvPr/>
        </p:nvSpPr>
        <p:spPr>
          <a:xfrm>
            <a:off x="5927452" y="2995687"/>
            <a:ext cx="2678757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Seasonal spikes in July–August and October increased hospital utilization, creating resource and staffing pressure across the network.</a:t>
            </a:r>
            <a:endParaRPr b="0" i="0" sz="900" u="none" cap="none" strike="noStrike"/>
          </a:p>
        </p:txBody>
      </p:sp>
      <p:sp>
        <p:nvSpPr>
          <p:cNvPr id="178" name="Google Shape;178;p16"/>
          <p:cNvSpPr/>
          <p:nvPr/>
        </p:nvSpPr>
        <p:spPr>
          <a:xfrm>
            <a:off x="5752951" y="3707383"/>
            <a:ext cx="2984897" cy="994842"/>
          </a:xfrm>
          <a:prstGeom prst="roundRect">
            <a:avLst>
              <a:gd fmla="val 6894" name="adj"/>
            </a:avLst>
          </a:prstGeom>
          <a:solidFill>
            <a:srgbClr val="FAFAFA"/>
          </a:solidFill>
          <a:ln cap="flat" cmpd="sng" w="14275">
            <a:solidFill>
              <a:srgbClr val="FF8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5738664" y="3707383"/>
            <a:ext cx="57150" cy="994842"/>
          </a:xfrm>
          <a:prstGeom prst="roundRect">
            <a:avLst>
              <a:gd fmla="val 86279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927452" y="3839021"/>
            <a:ext cx="1831628" cy="151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📈</a:t>
            </a:r>
            <a:r>
              <a:rPr b="0" i="0" lang="en-US" sz="11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Stable Monthly Growth</a:t>
            </a:r>
            <a:endParaRPr b="0" i="0" sz="1150" u="none" cap="none" strike="noStrike"/>
          </a:p>
        </p:txBody>
      </p:sp>
      <p:sp>
        <p:nvSpPr>
          <p:cNvPr id="181" name="Google Shape;181;p16"/>
          <p:cNvSpPr/>
          <p:nvPr/>
        </p:nvSpPr>
        <p:spPr>
          <a:xfrm>
            <a:off x="5927452" y="4087713"/>
            <a:ext cx="2678757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Stable monthly growth trajectory indicates strong, consistent healthcare demand and a resilient patient pipeline throughout the year.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441871" y="367605"/>
            <a:ext cx="1120527" cy="218926"/>
          </a:xfrm>
          <a:prstGeom prst="roundRect">
            <a:avLst>
              <a:gd fmla="val 19378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624" y="426541"/>
            <a:ext cx="100980" cy="10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/>
          <p:nvPr/>
        </p:nvSpPr>
        <p:spPr>
          <a:xfrm>
            <a:off x="669057" y="405482"/>
            <a:ext cx="817587" cy="143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bile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DEMOGRAPHICS</a:t>
            </a:r>
            <a:endParaRPr b="0" i="0" sz="75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441871" y="631478"/>
            <a:ext cx="5650929" cy="3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450"/>
              <a:buFont typeface="Funnel Display"/>
              <a:buNone/>
            </a:pPr>
            <a:r>
              <a:rPr b="0" i="0" lang="en-US" sz="24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Patient Demographics &amp; Age Analysis</a:t>
            </a:r>
            <a:endParaRPr b="0" i="0" sz="2450" u="none" cap="none" strike="noStrike"/>
          </a:p>
        </p:txBody>
      </p:sp>
      <p:sp>
        <p:nvSpPr>
          <p:cNvPr id="191" name="Google Shape;191;p17"/>
          <p:cNvSpPr/>
          <p:nvPr/>
        </p:nvSpPr>
        <p:spPr>
          <a:xfrm>
            <a:off x="441871" y="1242268"/>
            <a:ext cx="551408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208" y="1265113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551408" y="1256556"/>
            <a:ext cx="408533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Patient Volume</a:t>
            </a:r>
            <a:endParaRPr b="0" i="0" sz="450" u="none" cap="none" strike="noStrike"/>
          </a:p>
        </p:txBody>
      </p:sp>
      <p:sp>
        <p:nvSpPr>
          <p:cNvPr id="194" name="Google Shape;194;p17"/>
          <p:cNvSpPr/>
          <p:nvPr/>
        </p:nvSpPr>
        <p:spPr>
          <a:xfrm>
            <a:off x="1031379" y="1242268"/>
            <a:ext cx="830238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4716" y="1265113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1140916" y="1256556"/>
            <a:ext cx="687363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Revenue Contribution (M)</a:t>
            </a:r>
            <a:endParaRPr b="0" i="0" sz="450" u="none" cap="none" strike="noStrike"/>
          </a:p>
        </p:txBody>
      </p:sp>
      <p:pic>
        <p:nvPicPr>
          <p:cNvPr descr="preencoded.png" id="197" name="Google Shape;19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871" y="1392734"/>
            <a:ext cx="4404494" cy="2114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/>
          <p:nvPr/>
        </p:nvSpPr>
        <p:spPr>
          <a:xfrm>
            <a:off x="4413461" y="1633316"/>
            <a:ext cx="160511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4275" wrap="square" tIns="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28.5k</a:t>
            </a:r>
            <a:endParaRPr b="0" i="0" sz="400" u="none" cap="none" strike="noStrike"/>
          </a:p>
        </p:txBody>
      </p:sp>
      <p:sp>
        <p:nvSpPr>
          <p:cNvPr id="199" name="Google Shape;199;p17"/>
          <p:cNvSpPr/>
          <p:nvPr/>
        </p:nvSpPr>
        <p:spPr>
          <a:xfrm>
            <a:off x="1043772" y="1855413"/>
            <a:ext cx="118542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4275" wrap="square" tIns="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680</a:t>
            </a:r>
            <a:endParaRPr b="0" i="0" sz="400" u="none" cap="none" strike="noStrike"/>
          </a:p>
        </p:txBody>
      </p:sp>
      <p:sp>
        <p:nvSpPr>
          <p:cNvPr id="200" name="Google Shape;200;p17"/>
          <p:cNvSpPr/>
          <p:nvPr/>
        </p:nvSpPr>
        <p:spPr>
          <a:xfrm>
            <a:off x="3499470" y="2250854"/>
            <a:ext cx="116532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4275" wrap="square" tIns="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21k</a:t>
            </a:r>
            <a:endParaRPr b="0" i="0" sz="400" u="none" cap="none" strike="noStrike"/>
          </a:p>
        </p:txBody>
      </p:sp>
      <p:sp>
        <p:nvSpPr>
          <p:cNvPr id="201" name="Google Shape;201;p17"/>
          <p:cNvSpPr/>
          <p:nvPr/>
        </p:nvSpPr>
        <p:spPr>
          <a:xfrm>
            <a:off x="1029264" y="2472951"/>
            <a:ext cx="118542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4275" wrap="square" tIns="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610</a:t>
            </a:r>
            <a:endParaRPr b="0" i="0" sz="400" u="none" cap="none" strike="noStrike"/>
          </a:p>
        </p:txBody>
      </p:sp>
      <p:sp>
        <p:nvSpPr>
          <p:cNvPr id="202" name="Google Shape;202;p17"/>
          <p:cNvSpPr/>
          <p:nvPr/>
        </p:nvSpPr>
        <p:spPr>
          <a:xfrm>
            <a:off x="1596070" y="2868391"/>
            <a:ext cx="86544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4275" wrap="square" tIns="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6k</a:t>
            </a:r>
            <a:endParaRPr b="0" i="0" sz="400" u="none" cap="none" strike="noStrike"/>
          </a:p>
        </p:txBody>
      </p:sp>
      <p:sp>
        <p:nvSpPr>
          <p:cNvPr id="203" name="Google Shape;203;p17"/>
          <p:cNvSpPr/>
          <p:nvPr/>
        </p:nvSpPr>
        <p:spPr>
          <a:xfrm>
            <a:off x="964775" y="3090488"/>
            <a:ext cx="118542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4275" wrap="square" tIns="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127</a:t>
            </a:r>
            <a:endParaRPr b="0" i="0" sz="400" u="none" cap="none" strike="noStrike"/>
          </a:p>
        </p:txBody>
      </p:sp>
      <p:sp>
        <p:nvSpPr>
          <p:cNvPr id="204" name="Google Shape;204;p17"/>
          <p:cNvSpPr/>
          <p:nvPr/>
        </p:nvSpPr>
        <p:spPr>
          <a:xfrm>
            <a:off x="441871" y="3835226"/>
            <a:ext cx="4404494" cy="537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50"/>
              <a:buFont typeface="Nobile"/>
              <a:buNone/>
            </a:pPr>
            <a:r>
              <a:rPr b="0" i="0" lang="en-US" sz="9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Patient volume and revenue contribution segmented by age group. Adults lead in volume while Seniors drive disproportionately high healthcare costs.</a:t>
            </a:r>
            <a:endParaRPr b="0" i="0" sz="950" u="none" cap="none" strike="noStrike"/>
          </a:p>
        </p:txBody>
      </p:sp>
      <p:sp>
        <p:nvSpPr>
          <p:cNvPr id="205" name="Google Shape;205;p17"/>
          <p:cNvSpPr/>
          <p:nvPr/>
        </p:nvSpPr>
        <p:spPr>
          <a:xfrm>
            <a:off x="5159201" y="1228204"/>
            <a:ext cx="2021458" cy="157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Demographic Key Findings</a:t>
            </a:r>
            <a:endParaRPr b="0" i="0" sz="1200" u="none" cap="none" strike="noStrike"/>
          </a:p>
        </p:txBody>
      </p:sp>
      <p:sp>
        <p:nvSpPr>
          <p:cNvPr id="206" name="Google Shape;206;p17"/>
          <p:cNvSpPr/>
          <p:nvPr/>
        </p:nvSpPr>
        <p:spPr>
          <a:xfrm>
            <a:off x="5159201" y="1512540"/>
            <a:ext cx="1717551" cy="1959769"/>
          </a:xfrm>
          <a:prstGeom prst="roundRect">
            <a:avLst>
              <a:gd fmla="val 3088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5285408" y="1638746"/>
            <a:ext cx="1465138" cy="16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🧑</a:t>
            </a:r>
            <a:r>
              <a:rPr b="0" i="0" lang="en-US" sz="120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Adult Segment</a:t>
            </a:r>
            <a:endParaRPr b="0" i="0" sz="1200" u="none" cap="none" strike="noStrike"/>
          </a:p>
        </p:txBody>
      </p:sp>
      <p:sp>
        <p:nvSpPr>
          <p:cNvPr id="208" name="Google Shape;208;p17"/>
          <p:cNvSpPr/>
          <p:nvPr/>
        </p:nvSpPr>
        <p:spPr>
          <a:xfrm>
            <a:off x="5285408" y="1913781"/>
            <a:ext cx="1465138" cy="1253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Nobile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Adults generated the </a:t>
            </a:r>
            <a:r>
              <a:rPr b="1" i="0" lang="en-US" sz="9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highest patient volume</a:t>
            </a:r>
            <a:r>
              <a:rPr b="0" i="0" lang="en-US" sz="9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 at 28.5K, representing over 51% of total admissions and the largest revenue contributor at $680M.</a:t>
            </a:r>
            <a:endParaRPr b="0" i="0" sz="950" u="none" cap="none" strike="noStrike"/>
          </a:p>
        </p:txBody>
      </p:sp>
      <p:sp>
        <p:nvSpPr>
          <p:cNvPr id="209" name="Google Shape;209;p17"/>
          <p:cNvSpPr/>
          <p:nvPr/>
        </p:nvSpPr>
        <p:spPr>
          <a:xfrm>
            <a:off x="6989192" y="1512540"/>
            <a:ext cx="1717625" cy="1959769"/>
          </a:xfrm>
          <a:prstGeom prst="roundRect">
            <a:avLst>
              <a:gd fmla="val 3087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7115398" y="1638746"/>
            <a:ext cx="1465213" cy="16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👴 Senior Segment</a:t>
            </a:r>
            <a:endParaRPr b="0" i="0" sz="1200" u="none" cap="none" strike="noStrike"/>
          </a:p>
        </p:txBody>
      </p:sp>
      <p:sp>
        <p:nvSpPr>
          <p:cNvPr id="211" name="Google Shape;211;p17"/>
          <p:cNvSpPr/>
          <p:nvPr/>
        </p:nvSpPr>
        <p:spPr>
          <a:xfrm>
            <a:off x="7115398" y="1913781"/>
            <a:ext cx="1465213" cy="1432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Nobile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Seniors at 21K patients </a:t>
            </a:r>
            <a:r>
              <a:rPr b="1" i="0" lang="en-US" sz="9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contributed significantly to healthcare costs</a:t>
            </a:r>
            <a:r>
              <a:rPr b="0" i="0" lang="en-US" sz="9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, averaging higher billing amounts due to complex, chronic care needs.</a:t>
            </a:r>
            <a:endParaRPr b="0" i="0" sz="950" u="none" cap="none" strike="noStrike"/>
          </a:p>
        </p:txBody>
      </p:sp>
      <p:sp>
        <p:nvSpPr>
          <p:cNvPr id="212" name="Google Shape;212;p17"/>
          <p:cNvSpPr/>
          <p:nvPr/>
        </p:nvSpPr>
        <p:spPr>
          <a:xfrm>
            <a:off x="5159201" y="3584749"/>
            <a:ext cx="3547616" cy="1064568"/>
          </a:xfrm>
          <a:prstGeom prst="roundRect">
            <a:avLst>
              <a:gd fmla="val 4981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5285408" y="3710955"/>
            <a:ext cx="1578248" cy="16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👶 Child Segment</a:t>
            </a:r>
            <a:endParaRPr b="0" i="0" sz="1200" u="none" cap="none" strike="noStrike"/>
          </a:p>
        </p:txBody>
      </p:sp>
      <p:sp>
        <p:nvSpPr>
          <p:cNvPr id="214" name="Google Shape;214;p17"/>
          <p:cNvSpPr/>
          <p:nvPr/>
        </p:nvSpPr>
        <p:spPr>
          <a:xfrm>
            <a:off x="5285408" y="3985989"/>
            <a:ext cx="3295204" cy="537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Nobile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The child segment </a:t>
            </a:r>
            <a:r>
              <a:rPr b="1" i="0" lang="en-US" sz="9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remained comparatively low</a:t>
            </a:r>
            <a:r>
              <a:rPr b="0" i="0" lang="en-US" sz="9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at 6K patients, contributing $127M — indicating lower acute care utilization in pediatric populations.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/>
          <p:nvPr/>
        </p:nvSpPr>
        <p:spPr>
          <a:xfrm>
            <a:off x="410840" y="419546"/>
            <a:ext cx="1174552" cy="199132"/>
          </a:xfrm>
          <a:prstGeom prst="roundRect">
            <a:avLst>
              <a:gd fmla="val 19809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36" y="472157"/>
            <a:ext cx="93911" cy="9391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/>
          <p:nvPr/>
        </p:nvSpPr>
        <p:spPr>
          <a:xfrm>
            <a:off x="622102" y="454744"/>
            <a:ext cx="892894" cy="128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bile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DISEASE ANALYSIS</a:t>
            </a:r>
            <a:endParaRPr b="0" i="0" sz="700" u="none" cap="none" strike="noStrike"/>
          </a:p>
        </p:txBody>
      </p:sp>
      <p:sp>
        <p:nvSpPr>
          <p:cNvPr id="223" name="Google Shape;223;p18"/>
          <p:cNvSpPr/>
          <p:nvPr/>
        </p:nvSpPr>
        <p:spPr>
          <a:xfrm>
            <a:off x="410840" y="657523"/>
            <a:ext cx="6296248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300"/>
              <a:buFont typeface="Funnel Display"/>
              <a:buNone/>
            </a:pPr>
            <a:r>
              <a:rPr b="0" i="0" lang="en-US" sz="23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Medical Condition &amp; Disease Burden Analysis</a:t>
            </a:r>
            <a:endParaRPr b="0" i="0" sz="2300" u="none" cap="none" strike="noStrike"/>
          </a:p>
        </p:txBody>
      </p:sp>
      <p:sp>
        <p:nvSpPr>
          <p:cNvPr id="224" name="Google Shape;224;p18"/>
          <p:cNvSpPr/>
          <p:nvPr/>
        </p:nvSpPr>
        <p:spPr>
          <a:xfrm>
            <a:off x="410840" y="1193974"/>
            <a:ext cx="2809652" cy="1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Revenue Contribution by Condition ($M)</a:t>
            </a:r>
            <a:endParaRPr b="0" i="0" sz="1150" u="none" cap="none" strike="noStrike"/>
          </a:p>
        </p:txBody>
      </p:sp>
      <p:sp>
        <p:nvSpPr>
          <p:cNvPr id="225" name="Google Shape;225;p18"/>
          <p:cNvSpPr/>
          <p:nvPr/>
        </p:nvSpPr>
        <p:spPr>
          <a:xfrm>
            <a:off x="410840" y="1450032"/>
            <a:ext cx="507355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178" y="1472878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/>
          <p:nvPr/>
        </p:nvSpPr>
        <p:spPr>
          <a:xfrm>
            <a:off x="520378" y="1464320"/>
            <a:ext cx="364480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Revenue ($M)</a:t>
            </a:r>
            <a:endParaRPr b="0" i="0" sz="450" u="none" cap="none" strike="noStrike"/>
          </a:p>
        </p:txBody>
      </p:sp>
      <p:sp>
        <p:nvSpPr>
          <p:cNvPr id="228" name="Google Shape;228;p18"/>
          <p:cNvSpPr/>
          <p:nvPr/>
        </p:nvSpPr>
        <p:spPr>
          <a:xfrm>
            <a:off x="956295" y="1450032"/>
            <a:ext cx="551408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633" y="1472878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/>
          <p:nvPr/>
        </p:nvSpPr>
        <p:spPr>
          <a:xfrm>
            <a:off x="1065833" y="1464320"/>
            <a:ext cx="408533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Patient Volume</a:t>
            </a:r>
            <a:endParaRPr b="0" i="0" sz="450" u="none" cap="none" strike="noStrike"/>
          </a:p>
        </p:txBody>
      </p:sp>
      <p:pic>
        <p:nvPicPr>
          <p:cNvPr descr="preencoded.png" id="231" name="Google Shape;23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0840" y="1600498"/>
            <a:ext cx="4017987" cy="176614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/>
          <p:nvPr/>
        </p:nvSpPr>
        <p:spPr>
          <a:xfrm>
            <a:off x="410840" y="3809405"/>
            <a:ext cx="4017987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Disease burden comparison showing revenue and patient volume across six major chronic and acute conditions. Cancer yields high revenue per patient despite lower volume.</a:t>
            </a:r>
            <a:endParaRPr b="0" i="0" sz="900" u="none" cap="none" strike="noStrike"/>
          </a:p>
        </p:txBody>
      </p:sp>
      <p:sp>
        <p:nvSpPr>
          <p:cNvPr id="233" name="Google Shape;233;p18"/>
          <p:cNvSpPr/>
          <p:nvPr/>
        </p:nvSpPr>
        <p:spPr>
          <a:xfrm>
            <a:off x="4719935" y="1193974"/>
            <a:ext cx="1770311" cy="1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Strategic Clinical Insights</a:t>
            </a:r>
            <a:endParaRPr b="0" i="0" sz="1150" u="none" cap="none" strike="noStrike"/>
          </a:p>
        </p:txBody>
      </p:sp>
      <p:sp>
        <p:nvSpPr>
          <p:cNvPr id="234" name="Google Shape;234;p18"/>
          <p:cNvSpPr/>
          <p:nvPr/>
        </p:nvSpPr>
        <p:spPr>
          <a:xfrm>
            <a:off x="4719935" y="1450032"/>
            <a:ext cx="4017987" cy="990079"/>
          </a:xfrm>
          <a:prstGeom prst="roundRect">
            <a:avLst>
              <a:gd fmla="val 4980" name="adj"/>
            </a:avLst>
          </a:prstGeom>
          <a:solidFill>
            <a:srgbClr val="FAFAFA"/>
          </a:solidFill>
          <a:ln cap="flat" cmpd="sng" w="14275">
            <a:solidFill>
              <a:srgbClr val="279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4734223" y="1464320"/>
            <a:ext cx="469553" cy="961504"/>
          </a:xfrm>
          <a:prstGeom prst="roundRect">
            <a:avLst>
              <a:gd fmla="val 6850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80967" y="1857003"/>
            <a:ext cx="176064" cy="17606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/>
          <p:nvPr/>
        </p:nvSpPr>
        <p:spPr>
          <a:xfrm>
            <a:off x="5300960" y="1581671"/>
            <a:ext cx="2490043" cy="1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Diabetes — Highest Revenue Driver</a:t>
            </a:r>
            <a:endParaRPr b="0" i="0" sz="1150" u="none" cap="none" strike="noStrike"/>
          </a:p>
        </p:txBody>
      </p:sp>
      <p:sp>
        <p:nvSpPr>
          <p:cNvPr id="238" name="Google Shape;238;p18"/>
          <p:cNvSpPr/>
          <p:nvPr/>
        </p:nvSpPr>
        <p:spPr>
          <a:xfrm>
            <a:off x="5300960" y="1825600"/>
            <a:ext cx="3305324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Diabetes generated the </a:t>
            </a:r>
            <a:r>
              <a:rPr b="1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highest overall revenue at $298M</a:t>
            </a: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, driven by high patient volume of 10.8K and ongoing chronic care management requirements.</a:t>
            </a:r>
            <a:endParaRPr b="0" i="0" sz="900" u="none" cap="none" strike="noStrike"/>
          </a:p>
        </p:txBody>
      </p:sp>
      <p:sp>
        <p:nvSpPr>
          <p:cNvPr id="239" name="Google Shape;239;p18"/>
          <p:cNvSpPr/>
          <p:nvPr/>
        </p:nvSpPr>
        <p:spPr>
          <a:xfrm>
            <a:off x="4719935" y="2537296"/>
            <a:ext cx="4017987" cy="990079"/>
          </a:xfrm>
          <a:prstGeom prst="roundRect">
            <a:avLst>
              <a:gd fmla="val 4980" name="adj"/>
            </a:avLst>
          </a:prstGeom>
          <a:solidFill>
            <a:srgbClr val="FAFAFA"/>
          </a:solidFill>
          <a:ln cap="flat" cmpd="sng" w="14275">
            <a:solidFill>
              <a:srgbClr val="FDD3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4734223" y="2551584"/>
            <a:ext cx="469553" cy="961504"/>
          </a:xfrm>
          <a:prstGeom prst="roundRect">
            <a:avLst>
              <a:gd fmla="val 6850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80967" y="2944267"/>
            <a:ext cx="176064" cy="176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/>
          <p:nvPr/>
        </p:nvSpPr>
        <p:spPr>
          <a:xfrm>
            <a:off x="5300960" y="2668935"/>
            <a:ext cx="2766268" cy="1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Chronic Diseases Dominate Admissions</a:t>
            </a:r>
            <a:endParaRPr b="0" i="0" sz="1150" u="none" cap="none" strike="noStrike"/>
          </a:p>
        </p:txBody>
      </p:sp>
      <p:sp>
        <p:nvSpPr>
          <p:cNvPr id="243" name="Google Shape;243;p18"/>
          <p:cNvSpPr/>
          <p:nvPr/>
        </p:nvSpPr>
        <p:spPr>
          <a:xfrm>
            <a:off x="5300960" y="2912864"/>
            <a:ext cx="3305324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Diabetes, hypertension, obesity, and arthritis collectively accounted for the </a:t>
            </a:r>
            <a:r>
              <a:rPr b="1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majority of all healthcare admissions</a:t>
            </a: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, reflecting a chronic disease epidemic.</a:t>
            </a:r>
            <a:endParaRPr b="0" i="0" sz="900" u="none" cap="none" strike="noStrike"/>
          </a:p>
        </p:txBody>
      </p:sp>
      <p:sp>
        <p:nvSpPr>
          <p:cNvPr id="244" name="Google Shape;244;p18"/>
          <p:cNvSpPr/>
          <p:nvPr/>
        </p:nvSpPr>
        <p:spPr>
          <a:xfrm>
            <a:off x="4719935" y="3624560"/>
            <a:ext cx="4017987" cy="990079"/>
          </a:xfrm>
          <a:prstGeom prst="roundRect">
            <a:avLst>
              <a:gd fmla="val 4980" name="adj"/>
            </a:avLst>
          </a:prstGeom>
          <a:solidFill>
            <a:srgbClr val="FAFAFA"/>
          </a:solidFill>
          <a:ln cap="flat" cmpd="sng" w="14275">
            <a:solidFill>
              <a:srgbClr val="FF8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4734223" y="3638848"/>
            <a:ext cx="469553" cy="961504"/>
          </a:xfrm>
          <a:prstGeom prst="roundRect">
            <a:avLst>
              <a:gd fmla="val 6850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0967" y="4031531"/>
            <a:ext cx="176064" cy="176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/>
          <p:nvPr/>
        </p:nvSpPr>
        <p:spPr>
          <a:xfrm>
            <a:off x="5300960" y="3756199"/>
            <a:ext cx="2999556" cy="1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Obesity &amp; Hypertension — Long-Term Load</a:t>
            </a:r>
            <a:endParaRPr b="0" i="0" sz="1150" u="none" cap="none" strike="noStrike"/>
          </a:p>
        </p:txBody>
      </p:sp>
      <p:sp>
        <p:nvSpPr>
          <p:cNvPr id="248" name="Google Shape;248;p18"/>
          <p:cNvSpPr/>
          <p:nvPr/>
        </p:nvSpPr>
        <p:spPr>
          <a:xfrm>
            <a:off x="5300960" y="4000128"/>
            <a:ext cx="3305324" cy="48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00"/>
              <a:buFont typeface="Nobile"/>
              <a:buNone/>
            </a:pP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Obesity and hypertension together contribute </a:t>
            </a:r>
            <a:r>
              <a:rPr b="1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$457M in revenue</a:t>
            </a:r>
            <a:r>
              <a:rPr b="0" i="0" lang="en-US" sz="9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and increased long-term operational load through recurring admissions and complex care pathways.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/>
          <p:nvPr/>
        </p:nvSpPr>
        <p:spPr>
          <a:xfrm>
            <a:off x="348853" y="278383"/>
            <a:ext cx="1263179" cy="161553"/>
          </a:xfrm>
          <a:prstGeom prst="roundRect">
            <a:avLst>
              <a:gd fmla="val 20732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608" y="319311"/>
            <a:ext cx="79697" cy="7969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/>
          <p:nvPr/>
        </p:nvSpPr>
        <p:spPr>
          <a:xfrm>
            <a:off x="528117" y="308223"/>
            <a:ext cx="1024161" cy="1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bile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EMERGENCY OPERATIONS</a:t>
            </a:r>
            <a:endParaRPr b="0" i="0" sz="600" u="none" cap="none" strike="noStrike"/>
          </a:p>
        </p:txBody>
      </p:sp>
      <p:sp>
        <p:nvSpPr>
          <p:cNvPr id="257" name="Google Shape;257;p19"/>
          <p:cNvSpPr/>
          <p:nvPr/>
        </p:nvSpPr>
        <p:spPr>
          <a:xfrm>
            <a:off x="348853" y="467916"/>
            <a:ext cx="6514133" cy="24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950"/>
              <a:buFont typeface="Funnel Display"/>
              <a:buNone/>
            </a:pPr>
            <a:r>
              <a:rPr b="0" i="0" lang="en-US" sz="19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Emergency Admission &amp; Operational Pressure Analysis</a:t>
            </a:r>
            <a:endParaRPr b="0" i="0" sz="1950" u="none" cap="none" strike="noStrike"/>
          </a:p>
        </p:txBody>
      </p:sp>
      <p:sp>
        <p:nvSpPr>
          <p:cNvPr id="258" name="Google Shape;258;p19"/>
          <p:cNvSpPr/>
          <p:nvPr/>
        </p:nvSpPr>
        <p:spPr>
          <a:xfrm>
            <a:off x="348853" y="892225"/>
            <a:ext cx="1673423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Admission Type Distribution</a:t>
            </a:r>
            <a:endParaRPr b="0" i="0" sz="950" u="none" cap="none" strike="noStrike"/>
          </a:p>
        </p:txBody>
      </p:sp>
      <p:pic>
        <p:nvPicPr>
          <p:cNvPr descr="preencoded.png" id="259" name="Google Shape;2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853" y="1143223"/>
            <a:ext cx="3232547" cy="126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2258616" y="1549896"/>
            <a:ext cx="697334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1953" y="1572741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/>
          <p:nvPr/>
        </p:nvSpPr>
        <p:spPr>
          <a:xfrm>
            <a:off x="2384822" y="1564184"/>
            <a:ext cx="554459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Emergency·32.92%</a:t>
            </a:r>
            <a:endParaRPr b="0" i="0" sz="450" u="none" cap="none" strike="noStrike"/>
          </a:p>
        </p:txBody>
      </p:sp>
      <p:sp>
        <p:nvSpPr>
          <p:cNvPr id="263" name="Google Shape;263;p19"/>
          <p:cNvSpPr/>
          <p:nvPr/>
        </p:nvSpPr>
        <p:spPr>
          <a:xfrm>
            <a:off x="2684636" y="1564184"/>
            <a:ext cx="254645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·32.92%</a:t>
            </a:r>
            <a:endParaRPr b="0" i="0" sz="450" u="none" cap="none" strike="noStrike"/>
          </a:p>
        </p:txBody>
      </p:sp>
      <p:sp>
        <p:nvSpPr>
          <p:cNvPr id="264" name="Google Shape;264;p19"/>
          <p:cNvSpPr/>
          <p:nvPr/>
        </p:nvSpPr>
        <p:spPr>
          <a:xfrm>
            <a:off x="2707481" y="1564184"/>
            <a:ext cx="15329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450" u="none" cap="none" strike="noStrike"/>
          </a:p>
        </p:txBody>
      </p:sp>
      <p:sp>
        <p:nvSpPr>
          <p:cNvPr id="265" name="Google Shape;265;p19"/>
          <p:cNvSpPr/>
          <p:nvPr/>
        </p:nvSpPr>
        <p:spPr>
          <a:xfrm>
            <a:off x="2258616" y="1690836"/>
            <a:ext cx="585713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1953" y="1713681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/>
          <p:nvPr/>
        </p:nvSpPr>
        <p:spPr>
          <a:xfrm>
            <a:off x="2384822" y="1705124"/>
            <a:ext cx="442838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Urgent·38.14%</a:t>
            </a:r>
            <a:endParaRPr b="0" i="0" sz="450" u="none" cap="none" strike="noStrike"/>
          </a:p>
        </p:txBody>
      </p:sp>
      <p:sp>
        <p:nvSpPr>
          <p:cNvPr id="268" name="Google Shape;268;p19"/>
          <p:cNvSpPr/>
          <p:nvPr/>
        </p:nvSpPr>
        <p:spPr>
          <a:xfrm>
            <a:off x="2573015" y="1705124"/>
            <a:ext cx="254645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·38.14%</a:t>
            </a:r>
            <a:endParaRPr b="0" i="0" sz="450" u="none" cap="none" strike="noStrike"/>
          </a:p>
        </p:txBody>
      </p:sp>
      <p:sp>
        <p:nvSpPr>
          <p:cNvPr id="269" name="Google Shape;269;p19"/>
          <p:cNvSpPr/>
          <p:nvPr/>
        </p:nvSpPr>
        <p:spPr>
          <a:xfrm>
            <a:off x="2595860" y="1705124"/>
            <a:ext cx="15329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450" u="none" cap="none" strike="noStrike"/>
          </a:p>
        </p:txBody>
      </p:sp>
      <p:sp>
        <p:nvSpPr>
          <p:cNvPr id="270" name="Google Shape;270;p19"/>
          <p:cNvSpPr/>
          <p:nvPr/>
        </p:nvSpPr>
        <p:spPr>
          <a:xfrm>
            <a:off x="2258616" y="1831777"/>
            <a:ext cx="600373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91953" y="1854622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9"/>
          <p:cNvSpPr/>
          <p:nvPr/>
        </p:nvSpPr>
        <p:spPr>
          <a:xfrm>
            <a:off x="2384822" y="1846064"/>
            <a:ext cx="457498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Elective·28.94%</a:t>
            </a:r>
            <a:endParaRPr b="0" i="0" sz="450" u="none" cap="none" strike="noStrike"/>
          </a:p>
        </p:txBody>
      </p:sp>
      <p:sp>
        <p:nvSpPr>
          <p:cNvPr id="273" name="Google Shape;273;p19"/>
          <p:cNvSpPr/>
          <p:nvPr/>
        </p:nvSpPr>
        <p:spPr>
          <a:xfrm>
            <a:off x="2587675" y="1846064"/>
            <a:ext cx="254645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·28.94%</a:t>
            </a:r>
            <a:endParaRPr b="0" i="0" sz="450" u="none" cap="none" strike="noStrike"/>
          </a:p>
        </p:txBody>
      </p:sp>
      <p:sp>
        <p:nvSpPr>
          <p:cNvPr id="274" name="Google Shape;274;p19"/>
          <p:cNvSpPr/>
          <p:nvPr/>
        </p:nvSpPr>
        <p:spPr>
          <a:xfrm>
            <a:off x="2610520" y="1846064"/>
            <a:ext cx="15329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450" u="none" cap="none" strike="noStrike"/>
          </a:p>
        </p:txBody>
      </p:sp>
      <p:sp>
        <p:nvSpPr>
          <p:cNvPr id="275" name="Google Shape;275;p19"/>
          <p:cNvSpPr/>
          <p:nvPr/>
        </p:nvSpPr>
        <p:spPr>
          <a:xfrm>
            <a:off x="348853" y="2984599"/>
            <a:ext cx="3232547" cy="381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750"/>
              <a:buFont typeface="Nobile"/>
              <a:buNone/>
            </a:pPr>
            <a:r>
              <a:rPr b="0" i="0" lang="en-US" sz="7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Emergency admissions represent </a:t>
            </a:r>
            <a:r>
              <a:rPr b="1" i="0" lang="en-US" sz="7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32.92%</a:t>
            </a:r>
            <a:r>
              <a:rPr b="0" i="0" lang="en-US" sz="7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of all hospital admissions, placing significant pressure on operational capacity and clinical staffing.</a:t>
            </a:r>
            <a:endParaRPr b="0" i="0" sz="750" u="none" cap="none" strike="noStrike"/>
          </a:p>
        </p:txBody>
      </p:sp>
      <p:sp>
        <p:nvSpPr>
          <p:cNvPr id="276" name="Google Shape;276;p19"/>
          <p:cNvSpPr/>
          <p:nvPr/>
        </p:nvSpPr>
        <p:spPr>
          <a:xfrm>
            <a:off x="348853" y="3445371"/>
            <a:ext cx="3232547" cy="594420"/>
          </a:xfrm>
          <a:prstGeom prst="roundRect">
            <a:avLst>
              <a:gd fmla="val 704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494" y="3573140"/>
            <a:ext cx="124569" cy="99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/>
          <p:nvPr/>
        </p:nvSpPr>
        <p:spPr>
          <a:xfrm>
            <a:off x="672703" y="3540249"/>
            <a:ext cx="2809056" cy="386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Nobile"/>
              <a:buNone/>
            </a:pPr>
            <a:r>
              <a:rPr b="0" i="0" lang="en-US" sz="7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🚨</a:t>
            </a:r>
            <a:r>
              <a:rPr b="1" i="0" lang="en-US" sz="7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Operational Alert:</a:t>
            </a:r>
            <a:r>
              <a:rPr b="0" i="0" lang="en-US" sz="7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Emergency admission rate of 32.92% exceeds recommended sustainable thresholds for most hospital networks.</a:t>
            </a:r>
            <a:endParaRPr b="0" i="0" sz="750" u="none" cap="none" strike="noStrike"/>
          </a:p>
        </p:txBody>
      </p:sp>
      <p:sp>
        <p:nvSpPr>
          <p:cNvPr id="279" name="Google Shape;279;p19"/>
          <p:cNvSpPr/>
          <p:nvPr/>
        </p:nvSpPr>
        <p:spPr>
          <a:xfrm>
            <a:off x="3829348" y="892225"/>
            <a:ext cx="2230115" cy="124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Monthly Emergency Admission Trend</a:t>
            </a:r>
            <a:endParaRPr b="0" i="0" sz="950" u="none" cap="none" strike="noStrike"/>
          </a:p>
        </p:txBody>
      </p:sp>
      <p:sp>
        <p:nvSpPr>
          <p:cNvPr id="280" name="Google Shape;280;p19"/>
          <p:cNvSpPr/>
          <p:nvPr/>
        </p:nvSpPr>
        <p:spPr>
          <a:xfrm>
            <a:off x="3829348" y="1095598"/>
            <a:ext cx="652537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62685" y="1118443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/>
          <p:nvPr/>
        </p:nvSpPr>
        <p:spPr>
          <a:xfrm>
            <a:off x="3938885" y="1109886"/>
            <a:ext cx="509662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Urgent Admissions</a:t>
            </a:r>
            <a:endParaRPr b="0" i="0" sz="450" u="none" cap="none" strike="noStrike"/>
          </a:p>
        </p:txBody>
      </p:sp>
      <p:sp>
        <p:nvSpPr>
          <p:cNvPr id="283" name="Google Shape;283;p19"/>
          <p:cNvSpPr/>
          <p:nvPr/>
        </p:nvSpPr>
        <p:spPr>
          <a:xfrm>
            <a:off x="4519985" y="1095598"/>
            <a:ext cx="764158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53322" y="1118443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/>
          <p:nvPr/>
        </p:nvSpPr>
        <p:spPr>
          <a:xfrm>
            <a:off x="4629522" y="1109886"/>
            <a:ext cx="621283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Emergency Admissions</a:t>
            </a:r>
            <a:endParaRPr b="0" i="0" sz="450" u="none" cap="none" strike="noStrike"/>
          </a:p>
        </p:txBody>
      </p:sp>
      <p:pic>
        <p:nvPicPr>
          <p:cNvPr descr="preencoded.png" id="286" name="Google Shape;28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29348" y="1246063"/>
            <a:ext cx="4970487" cy="180439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/>
          <p:nvPr/>
        </p:nvSpPr>
        <p:spPr>
          <a:xfrm>
            <a:off x="3815060" y="3943573"/>
            <a:ext cx="28575" cy="857027"/>
          </a:xfrm>
          <a:prstGeom prst="rect">
            <a:avLst/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3957563" y="3957861"/>
            <a:ext cx="2313236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Emergency cases significantly increased hospital workload</a:t>
            </a:r>
            <a:endParaRPr b="0" i="0" sz="950" u="none" cap="none" strike="noStrike"/>
          </a:p>
        </p:txBody>
      </p:sp>
      <p:sp>
        <p:nvSpPr>
          <p:cNvPr id="289" name="Google Shape;289;p19"/>
          <p:cNvSpPr/>
          <p:nvPr/>
        </p:nvSpPr>
        <p:spPr>
          <a:xfrm>
            <a:off x="3957563" y="4277023"/>
            <a:ext cx="2313236" cy="509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750"/>
              <a:buFont typeface="Nobile"/>
              <a:buNone/>
            </a:pPr>
            <a:r>
              <a:rPr b="0" i="0" lang="en-US" sz="7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Peak emergency volumes in July–August coincide with peak total admissions, creating compounded staffing and bed management challenges.</a:t>
            </a:r>
            <a:endParaRPr b="0" i="0" sz="750" u="none" cap="none" strike="noStrike"/>
          </a:p>
        </p:txBody>
      </p:sp>
      <p:sp>
        <p:nvSpPr>
          <p:cNvPr id="290" name="Google Shape;290;p19"/>
          <p:cNvSpPr/>
          <p:nvPr/>
        </p:nvSpPr>
        <p:spPr>
          <a:xfrm>
            <a:off x="6344096" y="3943573"/>
            <a:ext cx="28575" cy="857027"/>
          </a:xfrm>
          <a:prstGeom prst="rect">
            <a:avLst/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486599" y="3957861"/>
            <a:ext cx="2313236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950"/>
              <a:buFont typeface="Funnel Display"/>
              <a:buNone/>
            </a:pPr>
            <a:r>
              <a:rPr b="0" i="0" lang="en-US" sz="9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Balanced elective admissions improved revenue stability</a:t>
            </a:r>
            <a:endParaRPr b="0" i="0" sz="950" u="none" cap="none" strike="noStrike"/>
          </a:p>
        </p:txBody>
      </p:sp>
      <p:sp>
        <p:nvSpPr>
          <p:cNvPr id="292" name="Google Shape;292;p19"/>
          <p:cNvSpPr/>
          <p:nvPr/>
        </p:nvSpPr>
        <p:spPr>
          <a:xfrm>
            <a:off x="6486599" y="4277023"/>
            <a:ext cx="2313236" cy="509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750"/>
              <a:buFont typeface="Nobile"/>
              <a:buNone/>
            </a:pPr>
            <a:r>
              <a:rPr b="0" i="0" lang="en-US" sz="7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Elective admissions at 28.94% maintained a predictable revenue floor, partially offsetting volatility from emergency and urgent care surges.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/>
          <p:nvPr/>
        </p:nvSpPr>
        <p:spPr>
          <a:xfrm>
            <a:off x="387623" y="362917"/>
            <a:ext cx="1409105" cy="184770"/>
          </a:xfrm>
          <a:prstGeom prst="roundRect">
            <a:avLst>
              <a:gd fmla="val 20141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75" y="410989"/>
            <a:ext cx="88553" cy="8855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586904" y="396106"/>
            <a:ext cx="1143372" cy="11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Nobile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FINANCIAL INTELLIGENCE</a:t>
            </a:r>
            <a:endParaRPr b="0" i="0" sz="650" u="none" cap="none" strike="noStrike"/>
          </a:p>
        </p:txBody>
      </p:sp>
      <p:sp>
        <p:nvSpPr>
          <p:cNvPr id="301" name="Google Shape;301;p20"/>
          <p:cNvSpPr/>
          <p:nvPr/>
        </p:nvSpPr>
        <p:spPr>
          <a:xfrm>
            <a:off x="387623" y="582290"/>
            <a:ext cx="6021363" cy="276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150"/>
              <a:buFont typeface="Funnel Display"/>
              <a:buNone/>
            </a:pPr>
            <a:r>
              <a:rPr b="0" i="0" lang="en-US" sz="21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Insurance Provider &amp; Revenue Driver Analysis</a:t>
            </a:r>
            <a:endParaRPr b="0" i="0" sz="2150" u="none" cap="none" strike="noStrike"/>
          </a:p>
        </p:txBody>
      </p:sp>
      <p:sp>
        <p:nvSpPr>
          <p:cNvPr id="302" name="Google Shape;302;p20"/>
          <p:cNvSpPr/>
          <p:nvPr/>
        </p:nvSpPr>
        <p:spPr>
          <a:xfrm>
            <a:off x="387623" y="1075432"/>
            <a:ext cx="3225329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Revenue &amp; Patient Volume by Insurance Provider</a:t>
            </a:r>
            <a:endParaRPr b="0" i="0" sz="1050" u="none" cap="none" strike="noStrike"/>
          </a:p>
        </p:txBody>
      </p:sp>
      <p:sp>
        <p:nvSpPr>
          <p:cNvPr id="303" name="Google Shape;303;p20"/>
          <p:cNvSpPr/>
          <p:nvPr/>
        </p:nvSpPr>
        <p:spPr>
          <a:xfrm>
            <a:off x="387623" y="1311176"/>
            <a:ext cx="551408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60" y="1334021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/>
          <p:nvPr/>
        </p:nvSpPr>
        <p:spPr>
          <a:xfrm>
            <a:off x="497160" y="1325463"/>
            <a:ext cx="408533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Patient Volume</a:t>
            </a:r>
            <a:endParaRPr b="0" i="0" sz="450" u="none" cap="none" strike="noStrike"/>
          </a:p>
        </p:txBody>
      </p:sp>
      <p:sp>
        <p:nvSpPr>
          <p:cNvPr id="306" name="Google Shape;306;p20"/>
          <p:cNvSpPr/>
          <p:nvPr/>
        </p:nvSpPr>
        <p:spPr>
          <a:xfrm>
            <a:off x="977131" y="1311176"/>
            <a:ext cx="507355" cy="102840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0469" y="1334021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1086669" y="1325463"/>
            <a:ext cx="364480" cy="7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E1B1B"/>
                </a:solidFill>
                <a:latin typeface="Arial"/>
                <a:ea typeface="Arial"/>
                <a:cs typeface="Arial"/>
                <a:sym typeface="Arial"/>
              </a:rPr>
              <a:t>Revenue ($M)</a:t>
            </a:r>
            <a:endParaRPr b="0" i="0" sz="450" u="none" cap="none" strike="noStrike"/>
          </a:p>
        </p:txBody>
      </p:sp>
      <p:pic>
        <p:nvPicPr>
          <p:cNvPr descr="preencoded.png" id="309" name="Google Shape;3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623" y="1461641"/>
            <a:ext cx="4481215" cy="183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/>
          <p:nvPr/>
        </p:nvSpPr>
        <p:spPr>
          <a:xfrm>
            <a:off x="387623" y="3917975"/>
            <a:ext cx="4481215" cy="44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Insurance provider comparison across patient volume and revenue contribution. Medicare leads across both dimensions, reflecting the dominance of senior-aged patients in the network.</a:t>
            </a:r>
            <a:endParaRPr b="0" i="0" sz="850" u="none" cap="none" strike="noStrike"/>
          </a:p>
        </p:txBody>
      </p:sp>
      <p:sp>
        <p:nvSpPr>
          <p:cNvPr id="311" name="Google Shape;311;p20"/>
          <p:cNvSpPr/>
          <p:nvPr/>
        </p:nvSpPr>
        <p:spPr>
          <a:xfrm>
            <a:off x="5143723" y="1075432"/>
            <a:ext cx="1946151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Financial Intelligence Insights</a:t>
            </a:r>
            <a:endParaRPr b="0" i="0" sz="1050" u="none" cap="none" strike="noStrike"/>
          </a:p>
        </p:txBody>
      </p:sp>
      <p:sp>
        <p:nvSpPr>
          <p:cNvPr id="312" name="Google Shape;312;p20"/>
          <p:cNvSpPr/>
          <p:nvPr/>
        </p:nvSpPr>
        <p:spPr>
          <a:xfrm>
            <a:off x="5143723" y="1311176"/>
            <a:ext cx="3617342" cy="1066354"/>
          </a:xfrm>
          <a:prstGeom prst="roundRect">
            <a:avLst>
              <a:gd fmla="val 4362" name="adj"/>
            </a:avLst>
          </a:prstGeom>
          <a:solidFill>
            <a:srgbClr val="FAFAFA"/>
          </a:solidFill>
          <a:ln cap="flat" cmpd="sng" w="14275">
            <a:solidFill>
              <a:srgbClr val="279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5158011" y="1325463"/>
            <a:ext cx="442987" cy="1037779"/>
          </a:xfrm>
          <a:prstGeom prst="roundRect">
            <a:avLst>
              <a:gd fmla="val 6631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6421" y="1761306"/>
            <a:ext cx="166092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/>
          <p:nvPr/>
        </p:nvSpPr>
        <p:spPr>
          <a:xfrm>
            <a:off x="5687467" y="1436191"/>
            <a:ext cx="2301032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Medicare — Highest Billing Volume</a:t>
            </a:r>
            <a:endParaRPr b="0" i="0" sz="1050" u="none" cap="none" strike="noStrike"/>
          </a:p>
        </p:txBody>
      </p:sp>
      <p:sp>
        <p:nvSpPr>
          <p:cNvPr id="316" name="Google Shape;316;p20"/>
          <p:cNvSpPr/>
          <p:nvPr/>
        </p:nvSpPr>
        <p:spPr>
          <a:xfrm>
            <a:off x="5687467" y="1661071"/>
            <a:ext cx="2948583" cy="591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Medicare patients generated the </a:t>
            </a:r>
            <a:r>
              <a:rPr b="1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highest billing volume at $385M</a:t>
            </a: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, representing 14.2K patients and reflecting the high-cost nature of senior healthcare services.</a:t>
            </a:r>
            <a:endParaRPr b="0" i="0" sz="850" u="none" cap="none" strike="noStrike"/>
          </a:p>
        </p:txBody>
      </p:sp>
      <p:sp>
        <p:nvSpPr>
          <p:cNvPr id="317" name="Google Shape;317;p20"/>
          <p:cNvSpPr/>
          <p:nvPr/>
        </p:nvSpPr>
        <p:spPr>
          <a:xfrm>
            <a:off x="5143723" y="2463998"/>
            <a:ext cx="3617342" cy="1066354"/>
          </a:xfrm>
          <a:prstGeom prst="roundRect">
            <a:avLst>
              <a:gd fmla="val 4362" name="adj"/>
            </a:avLst>
          </a:prstGeom>
          <a:solidFill>
            <a:srgbClr val="FAFAFA"/>
          </a:solidFill>
          <a:ln cap="flat" cmpd="sng" w="14275">
            <a:solidFill>
              <a:srgbClr val="FDD3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5158011" y="2478286"/>
            <a:ext cx="442987" cy="1037779"/>
          </a:xfrm>
          <a:prstGeom prst="roundRect">
            <a:avLst>
              <a:gd fmla="val 6631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96421" y="2914129"/>
            <a:ext cx="166092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/>
          <p:nvPr/>
        </p:nvSpPr>
        <p:spPr>
          <a:xfrm>
            <a:off x="5687467" y="2589014"/>
            <a:ext cx="2944490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Insurance Segmentation &amp; Revenue Stability</a:t>
            </a:r>
            <a:endParaRPr b="0" i="0" sz="1050" u="none" cap="none" strike="noStrike"/>
          </a:p>
        </p:txBody>
      </p:sp>
      <p:sp>
        <p:nvSpPr>
          <p:cNvPr id="321" name="Google Shape;321;p20"/>
          <p:cNvSpPr/>
          <p:nvPr/>
        </p:nvSpPr>
        <p:spPr>
          <a:xfrm>
            <a:off x="5687467" y="2813893"/>
            <a:ext cx="2948583" cy="591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Diversified coverage across five major providers — Medicare, Cigna, Blue Cross, Aetna, and UHC — </a:t>
            </a:r>
            <a:r>
              <a:rPr b="1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influenced overall revenue stability</a:t>
            </a: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and reduced single-payer dependency.</a:t>
            </a:r>
            <a:endParaRPr b="0" i="0" sz="850" u="none" cap="none" strike="noStrike"/>
          </a:p>
        </p:txBody>
      </p:sp>
      <p:sp>
        <p:nvSpPr>
          <p:cNvPr id="322" name="Google Shape;322;p20"/>
          <p:cNvSpPr/>
          <p:nvPr/>
        </p:nvSpPr>
        <p:spPr>
          <a:xfrm>
            <a:off x="5143723" y="3616821"/>
            <a:ext cx="3617342" cy="1066354"/>
          </a:xfrm>
          <a:prstGeom prst="roundRect">
            <a:avLst>
              <a:gd fmla="val 4362" name="adj"/>
            </a:avLst>
          </a:prstGeom>
          <a:solidFill>
            <a:srgbClr val="FAFAFA"/>
          </a:solidFill>
          <a:ln cap="flat" cmpd="sng" w="14275">
            <a:solidFill>
              <a:srgbClr val="FF8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5158011" y="3631109"/>
            <a:ext cx="442987" cy="1037779"/>
          </a:xfrm>
          <a:prstGeom prst="roundRect">
            <a:avLst>
              <a:gd fmla="val 6631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96421" y="4066952"/>
            <a:ext cx="166092" cy="16609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0"/>
          <p:cNvSpPr/>
          <p:nvPr/>
        </p:nvSpPr>
        <p:spPr>
          <a:xfrm>
            <a:off x="5687467" y="3741837"/>
            <a:ext cx="2398068" cy="138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50"/>
              <a:buFont typeface="Funnel Display"/>
              <a:buNone/>
            </a:pPr>
            <a:r>
              <a:rPr b="0" i="0" lang="en-US" sz="105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Balanced Provider Mix Reduces Risk</a:t>
            </a:r>
            <a:endParaRPr b="0" i="0" sz="1050" u="none" cap="none" strike="noStrike"/>
          </a:p>
        </p:txBody>
      </p:sp>
      <p:sp>
        <p:nvSpPr>
          <p:cNvPr id="326" name="Google Shape;326;p20"/>
          <p:cNvSpPr/>
          <p:nvPr/>
        </p:nvSpPr>
        <p:spPr>
          <a:xfrm>
            <a:off x="5687467" y="3966716"/>
            <a:ext cx="2948583" cy="591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50"/>
              <a:buFont typeface="Nobile"/>
              <a:buNone/>
            </a:pP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The balanced insurance provider distribution ensures no single payer represents a critical concentration risk, </a:t>
            </a:r>
            <a:r>
              <a:rPr b="1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reducing financial dependency</a:t>
            </a:r>
            <a:r>
              <a:rPr b="0" i="0" lang="en-US" sz="85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and improving long-term stability.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/>
          <p:nvPr/>
        </p:nvSpPr>
        <p:spPr>
          <a:xfrm>
            <a:off x="372070" y="313655"/>
            <a:ext cx="1147763" cy="175320"/>
          </a:xfrm>
          <a:prstGeom prst="roundRect">
            <a:avLst>
              <a:gd fmla="val 20377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43" y="358750"/>
            <a:ext cx="85055" cy="8505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1"/>
          <p:cNvSpPr/>
          <p:nvPr/>
        </p:nvSpPr>
        <p:spPr>
          <a:xfrm>
            <a:off x="563389" y="345504"/>
            <a:ext cx="892671" cy="11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Nobile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CLINICAL OUTCOMES</a:t>
            </a:r>
            <a:endParaRPr b="0" i="0" sz="650" u="none" cap="none" strike="noStrike"/>
          </a:p>
        </p:txBody>
      </p:sp>
      <p:sp>
        <p:nvSpPr>
          <p:cNvPr id="335" name="Google Shape;335;p21"/>
          <p:cNvSpPr/>
          <p:nvPr/>
        </p:nvSpPr>
        <p:spPr>
          <a:xfrm>
            <a:off x="372070" y="520824"/>
            <a:ext cx="5114032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050"/>
              <a:buFont typeface="Funnel Display"/>
              <a:buNone/>
            </a:pPr>
            <a:r>
              <a:rPr b="0" i="0" lang="en-US" sz="2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Clinical Outcomes &amp; Test Result Analysis</a:t>
            </a:r>
            <a:endParaRPr b="0" i="0" sz="2050" u="none" cap="none" strike="noStrike"/>
          </a:p>
        </p:txBody>
      </p:sp>
      <p:sp>
        <p:nvSpPr>
          <p:cNvPr id="336" name="Google Shape;336;p21"/>
          <p:cNvSpPr/>
          <p:nvPr/>
        </p:nvSpPr>
        <p:spPr>
          <a:xfrm>
            <a:off x="372070" y="985912"/>
            <a:ext cx="2187625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Diagnostic Test Result Distribution</a:t>
            </a:r>
            <a:endParaRPr b="0" i="0" sz="1000" u="none" cap="none" strike="noStrike"/>
          </a:p>
        </p:txBody>
      </p:sp>
      <p:pic>
        <p:nvPicPr>
          <p:cNvPr descr="preencoded.png" id="337" name="Google Shape;3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070" y="1208484"/>
            <a:ext cx="4070226" cy="173756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1"/>
          <p:cNvSpPr/>
          <p:nvPr/>
        </p:nvSpPr>
        <p:spPr>
          <a:xfrm>
            <a:off x="372070" y="3577456"/>
            <a:ext cx="4070226" cy="418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Quarterly breakdown of test results across abnormal, inconclusive, and normal categories. Abnormal results consistently represent approximately </a:t>
            </a:r>
            <a:r>
              <a:rPr b="1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33.5%</a:t>
            </a: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of all diagnostic outcomes.</a:t>
            </a:r>
            <a:endParaRPr b="0" i="0" sz="800" u="none" cap="none" strike="noStrike"/>
          </a:p>
        </p:txBody>
      </p:sp>
      <p:sp>
        <p:nvSpPr>
          <p:cNvPr id="339" name="Google Shape;339;p21"/>
          <p:cNvSpPr/>
          <p:nvPr/>
        </p:nvSpPr>
        <p:spPr>
          <a:xfrm>
            <a:off x="372070" y="4085704"/>
            <a:ext cx="4070226" cy="654472"/>
          </a:xfrm>
          <a:prstGeom prst="roundRect">
            <a:avLst>
              <a:gd fmla="val 6823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334" y="4225528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/>
          <p:nvPr/>
        </p:nvSpPr>
        <p:spPr>
          <a:xfrm>
            <a:off x="717500" y="4191967"/>
            <a:ext cx="3618533" cy="4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⚠️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Clinical Risk Alert: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Abnormal test rate of ~33.5% signals elevated clinical burden and increased demand for specialist intervention and follow-up care.</a:t>
            </a:r>
            <a:endParaRPr b="0" i="0" sz="800" u="none" cap="none" strike="noStrike"/>
          </a:p>
        </p:txBody>
      </p:sp>
      <p:sp>
        <p:nvSpPr>
          <p:cNvPr id="342" name="Google Shape;342;p21"/>
          <p:cNvSpPr/>
          <p:nvPr/>
        </p:nvSpPr>
        <p:spPr>
          <a:xfrm>
            <a:off x="4706466" y="985912"/>
            <a:ext cx="1607790" cy="13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Clinical Analytics Insights</a:t>
            </a:r>
            <a:endParaRPr b="0" i="0" sz="1000" u="none" cap="none" strike="noStrike"/>
          </a:p>
        </p:txBody>
      </p:sp>
      <p:sp>
        <p:nvSpPr>
          <p:cNvPr id="343" name="Google Shape;343;p21"/>
          <p:cNvSpPr/>
          <p:nvPr/>
        </p:nvSpPr>
        <p:spPr>
          <a:xfrm>
            <a:off x="4706466" y="1208484"/>
            <a:ext cx="1995264" cy="1539478"/>
          </a:xfrm>
          <a:prstGeom prst="roundRect">
            <a:avLst>
              <a:gd fmla="val 2901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4812729" y="1314748"/>
            <a:ext cx="1782738" cy="27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🔬</a:t>
            </a:r>
            <a:r>
              <a:rPr b="0" i="0" lang="en-US" sz="100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High Abnormal Results = Elevated Clinical Burden</a:t>
            </a:r>
            <a:endParaRPr b="0" i="0" sz="1000" u="none" cap="none" strike="noStrike"/>
          </a:p>
        </p:txBody>
      </p:sp>
      <p:sp>
        <p:nvSpPr>
          <p:cNvPr id="345" name="Google Shape;345;p21"/>
          <p:cNvSpPr/>
          <p:nvPr/>
        </p:nvSpPr>
        <p:spPr>
          <a:xfrm>
            <a:off x="4812729" y="1665015"/>
            <a:ext cx="1782738" cy="97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With approximately </a:t>
            </a:r>
            <a:r>
              <a:rPr b="1" i="0" lang="en-US" sz="80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33.5% of all test results classified as abnormal</a:t>
            </a:r>
            <a:r>
              <a:rPr b="0" i="0" lang="en-US" sz="800" u="none" cap="none" strike="noStrike">
                <a:solidFill>
                  <a:srgbClr val="FFFFFF"/>
                </a:solidFill>
                <a:latin typeface="Nobile"/>
                <a:ea typeface="Nobile"/>
                <a:cs typeface="Nobile"/>
                <a:sym typeface="Nobile"/>
              </a:rPr>
              <a:t>, hospitals face sustained clinical burden from diagnosis complexity, follow-up requirements, and specialist referrals.</a:t>
            </a:r>
            <a:endParaRPr b="0" i="0" sz="800" u="none" cap="none" strike="noStrike"/>
          </a:p>
        </p:txBody>
      </p:sp>
      <p:sp>
        <p:nvSpPr>
          <p:cNvPr id="346" name="Google Shape;346;p21"/>
          <p:cNvSpPr/>
          <p:nvPr/>
        </p:nvSpPr>
        <p:spPr>
          <a:xfrm>
            <a:off x="6781428" y="1208484"/>
            <a:ext cx="1995264" cy="1539478"/>
          </a:xfrm>
          <a:prstGeom prst="roundRect">
            <a:avLst>
              <a:gd fmla="val 2901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6887691" y="1314748"/>
            <a:ext cx="1782738" cy="27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💰 Diagnostic Complexity Raised Operational Costs</a:t>
            </a:r>
            <a:endParaRPr b="0" i="0" sz="1000" u="none" cap="none" strike="noStrike"/>
          </a:p>
        </p:txBody>
      </p:sp>
      <p:sp>
        <p:nvSpPr>
          <p:cNvPr id="348" name="Google Shape;348;p21"/>
          <p:cNvSpPr/>
          <p:nvPr/>
        </p:nvSpPr>
        <p:spPr>
          <a:xfrm>
            <a:off x="6887691" y="1665015"/>
            <a:ext cx="1782738" cy="837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Inconclusive results — averaging 27% quarterly — require repeat testing and extended diagnostic pathways, directly 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raising operational and laboratory costs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across facilities.</a:t>
            </a:r>
            <a:endParaRPr b="0" i="0" sz="800" u="none" cap="none" strike="noStrike"/>
          </a:p>
        </p:txBody>
      </p:sp>
      <p:sp>
        <p:nvSpPr>
          <p:cNvPr id="349" name="Google Shape;349;p21"/>
          <p:cNvSpPr/>
          <p:nvPr/>
        </p:nvSpPr>
        <p:spPr>
          <a:xfrm>
            <a:off x="4706466" y="2827660"/>
            <a:ext cx="4070226" cy="848469"/>
          </a:xfrm>
          <a:prstGeom prst="roundRect">
            <a:avLst>
              <a:gd fmla="val 5263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4812729" y="2933923"/>
            <a:ext cx="3336652" cy="137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🛡️ Preventive Care Could Reduce Future Admissions</a:t>
            </a:r>
            <a:endParaRPr b="0" i="0" sz="1000" u="none" cap="none" strike="noStrike"/>
          </a:p>
        </p:txBody>
      </p:sp>
      <p:sp>
        <p:nvSpPr>
          <p:cNvPr id="351" name="Google Shape;351;p21"/>
          <p:cNvSpPr/>
          <p:nvPr/>
        </p:nvSpPr>
        <p:spPr>
          <a:xfrm>
            <a:off x="4812729" y="3151287"/>
            <a:ext cx="3857699" cy="418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Structured preventive healthcare strategies targeting high-risk patient cohorts may significantly 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reduce future abnormal outcomes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and associated emergency admission rates.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/>
          <p:nvPr/>
        </p:nvSpPr>
        <p:spPr>
          <a:xfrm>
            <a:off x="372070" y="380926"/>
            <a:ext cx="1631975" cy="175320"/>
          </a:xfrm>
          <a:prstGeom prst="roundRect">
            <a:avLst>
              <a:gd fmla="val 20377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43" y="426021"/>
            <a:ext cx="85055" cy="8505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2"/>
          <p:cNvSpPr/>
          <p:nvPr/>
        </p:nvSpPr>
        <p:spPr>
          <a:xfrm>
            <a:off x="563389" y="412775"/>
            <a:ext cx="1376883" cy="11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Nobile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STRATEGIC RECOMMENDATIONS</a:t>
            </a:r>
            <a:endParaRPr b="0" i="0" sz="650" u="none" cap="none" strike="noStrike"/>
          </a:p>
        </p:txBody>
      </p:sp>
      <p:sp>
        <p:nvSpPr>
          <p:cNvPr id="360" name="Google Shape;360;p22"/>
          <p:cNvSpPr/>
          <p:nvPr/>
        </p:nvSpPr>
        <p:spPr>
          <a:xfrm>
            <a:off x="372070" y="588094"/>
            <a:ext cx="6650906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0306"/>
              </a:buClr>
              <a:buSzPts val="2050"/>
              <a:buFont typeface="Funnel Display"/>
              <a:buNone/>
            </a:pPr>
            <a:r>
              <a:rPr b="0" i="0" lang="en-US" sz="205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Strategic Recommendations &amp; Executive Conclusion</a:t>
            </a:r>
            <a:endParaRPr b="0" i="0" sz="2050" u="none" cap="none" strike="noStrike"/>
          </a:p>
        </p:txBody>
      </p:sp>
      <p:sp>
        <p:nvSpPr>
          <p:cNvPr id="361" name="Google Shape;361;p22"/>
          <p:cNvSpPr/>
          <p:nvPr/>
        </p:nvSpPr>
        <p:spPr>
          <a:xfrm>
            <a:off x="372070" y="1053182"/>
            <a:ext cx="1329035" cy="137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🔍</a:t>
            </a:r>
            <a:r>
              <a:rPr b="0" i="0" lang="en-US" sz="10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Key Findings</a:t>
            </a:r>
            <a:endParaRPr b="0" i="0" sz="1000" u="none" cap="none" strike="noStrike"/>
          </a:p>
        </p:txBody>
      </p:sp>
      <p:sp>
        <p:nvSpPr>
          <p:cNvPr id="362" name="Google Shape;362;p22"/>
          <p:cNvSpPr/>
          <p:nvPr/>
        </p:nvSpPr>
        <p:spPr>
          <a:xfrm>
            <a:off x="372070" y="1280517"/>
            <a:ext cx="1995264" cy="1284238"/>
          </a:xfrm>
          <a:prstGeom prst="roundRect">
            <a:avLst>
              <a:gd fmla="val 5340" name="adj"/>
            </a:avLst>
          </a:prstGeom>
          <a:solidFill>
            <a:srgbClr val="FAFAFA"/>
          </a:solidFill>
          <a:ln cap="flat" cmpd="sng" w="14275">
            <a:solidFill>
              <a:srgbClr val="279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357783" y="1280517"/>
            <a:ext cx="57150" cy="1284238"/>
          </a:xfrm>
          <a:prstGeom prst="roundRect">
            <a:avLst>
              <a:gd fmla="val 78140" name="adj"/>
            </a:avLst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535484" y="1401068"/>
            <a:ext cx="1711300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Emergency Admissions — Operational Pressure</a:t>
            </a:r>
            <a:endParaRPr b="0" i="0" sz="1000" u="none" cap="none" strike="noStrike"/>
          </a:p>
        </p:txBody>
      </p:sp>
      <p:sp>
        <p:nvSpPr>
          <p:cNvPr id="365" name="Google Shape;365;p22"/>
          <p:cNvSpPr/>
          <p:nvPr/>
        </p:nvSpPr>
        <p:spPr>
          <a:xfrm>
            <a:off x="535484" y="1746572"/>
            <a:ext cx="1711300" cy="69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Emergency admissions at </a:t>
            </a:r>
            <a:r>
              <a:rPr b="1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32.92%</a:t>
            </a: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drove significant operational strain across hospital networks, requiring urgent capacity investment.</a:t>
            </a:r>
            <a:endParaRPr b="0" i="0" sz="800" u="none" cap="none" strike="noStrike"/>
          </a:p>
        </p:txBody>
      </p:sp>
      <p:sp>
        <p:nvSpPr>
          <p:cNvPr id="366" name="Google Shape;366;p22"/>
          <p:cNvSpPr/>
          <p:nvPr/>
        </p:nvSpPr>
        <p:spPr>
          <a:xfrm>
            <a:off x="2447032" y="1280517"/>
            <a:ext cx="1995264" cy="1284238"/>
          </a:xfrm>
          <a:prstGeom prst="roundRect">
            <a:avLst>
              <a:gd fmla="val 5340" name="adj"/>
            </a:avLst>
          </a:prstGeom>
          <a:solidFill>
            <a:srgbClr val="FAFAFA"/>
          </a:solidFill>
          <a:ln cap="flat" cmpd="sng" w="14275">
            <a:solidFill>
              <a:srgbClr val="FDD3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2432745" y="1280517"/>
            <a:ext cx="57150" cy="1284238"/>
          </a:xfrm>
          <a:prstGeom prst="roundRect">
            <a:avLst>
              <a:gd fmla="val 78140" name="adj"/>
            </a:avLst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2610445" y="1401068"/>
            <a:ext cx="1711300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Diabetes — Highest Revenue Contributor</a:t>
            </a:r>
            <a:endParaRPr b="0" i="0" sz="1000" u="none" cap="none" strike="noStrike"/>
          </a:p>
        </p:txBody>
      </p:sp>
      <p:sp>
        <p:nvSpPr>
          <p:cNvPr id="369" name="Google Shape;369;p22"/>
          <p:cNvSpPr/>
          <p:nvPr/>
        </p:nvSpPr>
        <p:spPr>
          <a:xfrm>
            <a:off x="2610445" y="1746572"/>
            <a:ext cx="1711300" cy="69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Diabetes generated the </a:t>
            </a:r>
            <a:r>
              <a:rPr b="1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highest revenue at $298M</a:t>
            </a: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and represents the single largest disease burden across the patient population.</a:t>
            </a:r>
            <a:endParaRPr b="0" i="0" sz="800" u="none" cap="none" strike="noStrike"/>
          </a:p>
        </p:txBody>
      </p:sp>
      <p:sp>
        <p:nvSpPr>
          <p:cNvPr id="370" name="Google Shape;370;p22"/>
          <p:cNvSpPr/>
          <p:nvPr/>
        </p:nvSpPr>
        <p:spPr>
          <a:xfrm>
            <a:off x="372070" y="2644453"/>
            <a:ext cx="1995264" cy="1284238"/>
          </a:xfrm>
          <a:prstGeom prst="roundRect">
            <a:avLst>
              <a:gd fmla="val 5340" name="adj"/>
            </a:avLst>
          </a:prstGeom>
          <a:solidFill>
            <a:srgbClr val="FAFAFA"/>
          </a:solidFill>
          <a:ln cap="flat" cmpd="sng" w="14275">
            <a:solidFill>
              <a:srgbClr val="FF8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357783" y="2644453"/>
            <a:ext cx="57150" cy="1284238"/>
          </a:xfrm>
          <a:prstGeom prst="roundRect">
            <a:avLst>
              <a:gd fmla="val 78140" name="adj"/>
            </a:avLst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535484" y="2765003"/>
            <a:ext cx="1711300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Senior Patients — Elevated Healthcare Costs</a:t>
            </a:r>
            <a:endParaRPr b="0" i="0" sz="1000" u="none" cap="none" strike="noStrike"/>
          </a:p>
        </p:txBody>
      </p:sp>
      <p:sp>
        <p:nvSpPr>
          <p:cNvPr id="373" name="Google Shape;373;p22"/>
          <p:cNvSpPr/>
          <p:nvPr/>
        </p:nvSpPr>
        <p:spPr>
          <a:xfrm>
            <a:off x="535484" y="3110508"/>
            <a:ext cx="1711300" cy="69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Senior patients at 21K volume contributed disproportionately to overall healthcare costs through complex, multi-condition care needs.</a:t>
            </a:r>
            <a:endParaRPr b="0" i="0" sz="800" u="none" cap="none" strike="noStrike"/>
          </a:p>
        </p:txBody>
      </p:sp>
      <p:sp>
        <p:nvSpPr>
          <p:cNvPr id="374" name="Google Shape;374;p22"/>
          <p:cNvSpPr/>
          <p:nvPr/>
        </p:nvSpPr>
        <p:spPr>
          <a:xfrm>
            <a:off x="2447032" y="2644453"/>
            <a:ext cx="1995264" cy="1284238"/>
          </a:xfrm>
          <a:prstGeom prst="roundRect">
            <a:avLst>
              <a:gd fmla="val 5340" name="adj"/>
            </a:avLst>
          </a:prstGeom>
          <a:solidFill>
            <a:srgbClr val="FAFAFA"/>
          </a:solidFill>
          <a:ln cap="flat" cmpd="sng" w="14275">
            <a:solidFill>
              <a:srgbClr val="007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2432745" y="2644453"/>
            <a:ext cx="57150" cy="1284238"/>
          </a:xfrm>
          <a:prstGeom prst="roundRect">
            <a:avLst>
              <a:gd fmla="val 78140" name="adj"/>
            </a:avLst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2610445" y="2765003"/>
            <a:ext cx="1711300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Clinical Abnormalities — Treatment Complexity</a:t>
            </a:r>
            <a:endParaRPr b="0" i="0" sz="1000" u="none" cap="none" strike="noStrike"/>
          </a:p>
        </p:txBody>
      </p:sp>
      <p:sp>
        <p:nvSpPr>
          <p:cNvPr id="377" name="Google Shape;377;p22"/>
          <p:cNvSpPr/>
          <p:nvPr/>
        </p:nvSpPr>
        <p:spPr>
          <a:xfrm>
            <a:off x="2610445" y="3110508"/>
            <a:ext cx="171130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Abnormal test results at </a:t>
            </a:r>
            <a:r>
              <a:rPr b="1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~33.5%</a:t>
            </a: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 highlighted significant diagnostic and treatment complexity across all major care departments.</a:t>
            </a:r>
            <a:endParaRPr b="0" i="0" sz="800" u="none" cap="none" strike="noStrike"/>
          </a:p>
        </p:txBody>
      </p:sp>
      <p:sp>
        <p:nvSpPr>
          <p:cNvPr id="378" name="Google Shape;378;p22"/>
          <p:cNvSpPr/>
          <p:nvPr/>
        </p:nvSpPr>
        <p:spPr>
          <a:xfrm>
            <a:off x="4706466" y="1053182"/>
            <a:ext cx="2016547" cy="137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🚀</a:t>
            </a:r>
            <a:r>
              <a:rPr b="0" i="0" lang="en-US" sz="1000" u="none" cap="none" strike="noStrike">
                <a:solidFill>
                  <a:srgbClr val="2C030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Strategic Recommendations</a:t>
            </a:r>
            <a:endParaRPr b="0" i="0" sz="1000" u="none" cap="none" strike="noStrike"/>
          </a:p>
        </p:txBody>
      </p:sp>
      <p:sp>
        <p:nvSpPr>
          <p:cNvPr id="379" name="Google Shape;379;p22"/>
          <p:cNvSpPr/>
          <p:nvPr/>
        </p:nvSpPr>
        <p:spPr>
          <a:xfrm>
            <a:off x="4706466" y="1280517"/>
            <a:ext cx="212601" cy="10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01</a:t>
            </a:r>
            <a:endParaRPr b="0" i="0" sz="800" u="none" cap="none" strike="noStrike"/>
          </a:p>
        </p:txBody>
      </p:sp>
      <p:sp>
        <p:nvSpPr>
          <p:cNvPr id="380" name="Google Shape;380;p22"/>
          <p:cNvSpPr/>
          <p:nvPr/>
        </p:nvSpPr>
        <p:spPr>
          <a:xfrm>
            <a:off x="4706466" y="1420267"/>
            <a:ext cx="1995264" cy="14288"/>
          </a:xfrm>
          <a:prstGeom prst="rect">
            <a:avLst/>
          </a:prstGeom>
          <a:solidFill>
            <a:srgbClr val="279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4706466" y="1501973"/>
            <a:ext cx="1995264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Improve Emergency Response Infrastructure</a:t>
            </a:r>
            <a:endParaRPr b="0" i="0" sz="1000" u="none" cap="none" strike="noStrike"/>
          </a:p>
        </p:txBody>
      </p:sp>
      <p:sp>
        <p:nvSpPr>
          <p:cNvPr id="382" name="Google Shape;382;p22"/>
          <p:cNvSpPr/>
          <p:nvPr/>
        </p:nvSpPr>
        <p:spPr>
          <a:xfrm>
            <a:off x="4706466" y="1847478"/>
            <a:ext cx="1995264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Invest in emergency department capacity, triage protocols, and real-time bed management systems to reduce bottlenecks.</a:t>
            </a:r>
            <a:endParaRPr b="0" i="0" sz="800" u="none" cap="none" strike="noStrike"/>
          </a:p>
        </p:txBody>
      </p:sp>
      <p:sp>
        <p:nvSpPr>
          <p:cNvPr id="383" name="Google Shape;383;p22"/>
          <p:cNvSpPr/>
          <p:nvPr/>
        </p:nvSpPr>
        <p:spPr>
          <a:xfrm>
            <a:off x="6781428" y="1280517"/>
            <a:ext cx="212601" cy="10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02</a:t>
            </a:r>
            <a:endParaRPr b="0" i="0" sz="800" u="none" cap="none" strike="noStrike"/>
          </a:p>
        </p:txBody>
      </p:sp>
      <p:sp>
        <p:nvSpPr>
          <p:cNvPr id="384" name="Google Shape;384;p22"/>
          <p:cNvSpPr/>
          <p:nvPr/>
        </p:nvSpPr>
        <p:spPr>
          <a:xfrm>
            <a:off x="6781428" y="1420267"/>
            <a:ext cx="1995264" cy="14288"/>
          </a:xfrm>
          <a:prstGeom prst="rect">
            <a:avLst/>
          </a:prstGeom>
          <a:solidFill>
            <a:srgbClr val="FDD3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6781428" y="1501973"/>
            <a:ext cx="1995264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Increase Preventive Healthcare Programs</a:t>
            </a:r>
            <a:endParaRPr b="0" i="0" sz="1000" u="none" cap="none" strike="noStrike"/>
          </a:p>
        </p:txBody>
      </p:sp>
      <p:sp>
        <p:nvSpPr>
          <p:cNvPr id="386" name="Google Shape;386;p22"/>
          <p:cNvSpPr/>
          <p:nvPr/>
        </p:nvSpPr>
        <p:spPr>
          <a:xfrm>
            <a:off x="6781428" y="1847478"/>
            <a:ext cx="1995264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Launch targeted prevention programs for diabetes, hypertension, and obesity to reduce chronic disease admissions and long-term costs.</a:t>
            </a:r>
            <a:endParaRPr b="0" i="0" sz="800" u="none" cap="none" strike="noStrike"/>
          </a:p>
        </p:txBody>
      </p:sp>
      <p:sp>
        <p:nvSpPr>
          <p:cNvPr id="387" name="Google Shape;387;p22"/>
          <p:cNvSpPr/>
          <p:nvPr/>
        </p:nvSpPr>
        <p:spPr>
          <a:xfrm>
            <a:off x="4706466" y="2564978"/>
            <a:ext cx="212601" cy="10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03</a:t>
            </a:r>
            <a:endParaRPr b="0" i="0" sz="800" u="none" cap="none" strike="noStrike"/>
          </a:p>
        </p:txBody>
      </p:sp>
      <p:sp>
        <p:nvSpPr>
          <p:cNvPr id="388" name="Google Shape;388;p22"/>
          <p:cNvSpPr/>
          <p:nvPr/>
        </p:nvSpPr>
        <p:spPr>
          <a:xfrm>
            <a:off x="4706466" y="2704728"/>
            <a:ext cx="1995264" cy="14288"/>
          </a:xfrm>
          <a:prstGeom prst="rect">
            <a:avLst/>
          </a:prstGeom>
          <a:solidFill>
            <a:srgbClr val="FF82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4706466" y="2786435"/>
            <a:ext cx="1995264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Optimize Staffing During High-Demand Months</a:t>
            </a:r>
            <a:endParaRPr b="0" i="0" sz="1000" u="none" cap="none" strike="noStrike"/>
          </a:p>
        </p:txBody>
      </p:sp>
      <p:sp>
        <p:nvSpPr>
          <p:cNvPr id="390" name="Google Shape;390;p22"/>
          <p:cNvSpPr/>
          <p:nvPr/>
        </p:nvSpPr>
        <p:spPr>
          <a:xfrm>
            <a:off x="4706466" y="3131939"/>
            <a:ext cx="1995264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Use seasonal trend data (July, August, October peaks) to pre-position staffing resources and prevent utilization-driven quality degradation.</a:t>
            </a:r>
            <a:endParaRPr b="0" i="0" sz="800" u="none" cap="none" strike="noStrike"/>
          </a:p>
        </p:txBody>
      </p:sp>
      <p:sp>
        <p:nvSpPr>
          <p:cNvPr id="391" name="Google Shape;391;p22"/>
          <p:cNvSpPr/>
          <p:nvPr/>
        </p:nvSpPr>
        <p:spPr>
          <a:xfrm>
            <a:off x="6781428" y="2564978"/>
            <a:ext cx="212601" cy="10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Funnel Display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04</a:t>
            </a:r>
            <a:endParaRPr b="0" i="0" sz="800" u="none" cap="none" strike="noStrike"/>
          </a:p>
        </p:txBody>
      </p:sp>
      <p:sp>
        <p:nvSpPr>
          <p:cNvPr id="392" name="Google Shape;392;p22"/>
          <p:cNvSpPr/>
          <p:nvPr/>
        </p:nvSpPr>
        <p:spPr>
          <a:xfrm>
            <a:off x="6781428" y="2704728"/>
            <a:ext cx="1995264" cy="14288"/>
          </a:xfrm>
          <a:prstGeom prst="rect">
            <a:avLst/>
          </a:prstGeom>
          <a:solidFill>
            <a:srgbClr val="007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6781428" y="2786435"/>
            <a:ext cx="1995264" cy="398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1000"/>
              <a:buFont typeface="Funnel Display"/>
              <a:buNone/>
            </a:pPr>
            <a:r>
              <a:rPr b="0" i="0" lang="en-US" sz="1000" u="none" cap="none" strike="noStrike">
                <a:solidFill>
                  <a:srgbClr val="1E1B1B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Enhance Insurance Partnerships &amp; Use Predictive Analytics</a:t>
            </a:r>
            <a:endParaRPr b="0" i="0" sz="1000" u="none" cap="none" strike="noStrike"/>
          </a:p>
        </p:txBody>
      </p:sp>
      <p:sp>
        <p:nvSpPr>
          <p:cNvPr id="394" name="Google Shape;394;p22"/>
          <p:cNvSpPr/>
          <p:nvPr/>
        </p:nvSpPr>
        <p:spPr>
          <a:xfrm>
            <a:off x="6781428" y="3264843"/>
            <a:ext cx="1995264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1B1B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1E1B1B"/>
                </a:solidFill>
                <a:latin typeface="Nobile"/>
                <a:ea typeface="Nobile"/>
                <a:cs typeface="Nobile"/>
                <a:sym typeface="Nobile"/>
              </a:rPr>
              <a:t>Strengthen multi-payer relationships to diversify revenue and deploy predictive models for proactive hospital capacity planning.</a:t>
            </a:r>
            <a:endParaRPr b="0" i="0" sz="800" u="none" cap="none" strike="noStrike"/>
          </a:p>
        </p:txBody>
      </p:sp>
      <p:sp>
        <p:nvSpPr>
          <p:cNvPr id="395" name="Google Shape;395;p22"/>
          <p:cNvSpPr/>
          <p:nvPr/>
        </p:nvSpPr>
        <p:spPr>
          <a:xfrm>
            <a:off x="372070" y="4108028"/>
            <a:ext cx="8399859" cy="654472"/>
          </a:xfrm>
          <a:prstGeom prst="roundRect">
            <a:avLst>
              <a:gd fmla="val 6823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334" y="4247852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2"/>
          <p:cNvSpPr/>
          <p:nvPr/>
        </p:nvSpPr>
        <p:spPr>
          <a:xfrm>
            <a:off x="717500" y="4214292"/>
            <a:ext cx="7948166" cy="4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📌</a:t>
            </a:r>
            <a:r>
              <a:rPr b="1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Executive Conclusion:</a:t>
            </a:r>
            <a:r>
              <a:rPr b="0" i="0" lang="en-US" sz="80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This healthcare analytics initiative establishes a foundation for data-driven decision-making across the network. By addressing emergency capacity, chronic disease burden, and clinical outcomes systematically, the organization is positioned for sustainable performance improvement. The future scope includes real-time predictive dashboards, AI-driven clinical risk scoring, and dynamic insurance revenue optimization.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